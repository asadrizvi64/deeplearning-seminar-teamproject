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data" id="{11d47e98-1aea-dc8d-4605-6e7523f19562}">
          <p14:sldIdLst>
            <p14:sldId id="256"/>
            <p14:sldId id="257"/>
            <p14:sldId id="258"/>
          </p14:sldIdLst>
        </p14:section>
        <p14:section name="Simple setup and changes" id="{20c4a4f5-636f-974d-d750-c953526ffaec}">
          <p14:sldIdLst>
            <p14:sldId id="259"/>
            <p14:sldId id="260"/>
            <p14:sldId id="261"/>
            <p14:sldId id="262"/>
            <p14:sldId id="263"/>
            <p14:sldId id="264"/>
            <p14:sldId id="265"/>
            <p14:sldId id="266"/>
            <p14:sldId id="267"/>
            <p14:sldId id="268"/>
          </p14:sldIdLst>
        </p14:section>
        <p14:section name="Results and validation" id="{7544ffb0-a542-f7b4-ea5c-7fba919547b9}">
          <p14:sldIdLst>
            <p14:sldId id="269"/>
            <p14:sldId id="270"/>
          </p14:sldIdLst>
        </p14:section>
        <p14:section name="State of the art" id="{b06002a7-9664-84cf-0af9-5cf6b1599407}">
          <p14:sldIdLst>
            <p14:sldId id="271"/>
            <p14:sldId id="272"/>
            <p14:sldId id="273"/>
          </p14:sldIdLst>
        </p14:section>
        <p14:section name="Conclusion" id="{59f75a01-f393-fed4-0e18-603fb614352f}">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phantom experiments: best PSNR (dB) of 8 fits each</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random start</c:v>
                  </c:pt>
                  <c:pt idx="1">
                    <c:v>random, more steps</c:v>
                  </c:pt>
                  <c:pt idx="2">
                    <c:v>start on peaks</c:v>
                  </c:pt>
                  <c:pt idx="3">
                    <c:v>peaks, more steps</c:v>
                  </c:pt>
                </c:lvl>
              </c:multiLvlStrCache>
            </c:multiLvlStrRef>
          </c:cat>
          <c:val>
            <c:numRef>
              <c:f>Sheet1!$B$2:$B$5</c:f>
              <c:numCache>
                <c:formatCode>General</c:formatCode>
                <c:ptCount val="4"/>
                <c:pt idx="0">
                  <c:v>31.97</c:v>
                </c:pt>
                <c:pt idx="1">
                  <c:v>33.65</c:v>
                </c:pt>
                <c:pt idx="2">
                  <c:v>53.05</c:v>
                </c:pt>
                <c:pt idx="3">
                  <c:v>55.12</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real Tribolium sweep: median PSNR (dB), ~75 fits per shape</a:t>
            </a:r>
          </a:p>
        </c:rich>
      </c:tx>
      <c:layout/>
      <c:overlay val="0"/>
    </c:title>
    <c:autoTitleDeleted val="0"/>
    <c:plotArea>
      <c:layout/>
      <c:barChart>
        <c:barDir val="col"/>
        <c:grouping val="clustered"/>
        <c:varyColors val="0"/>
        <c:ser>
          <c:idx val="0"/>
          <c:order val="0"/>
          <c:tx>
            <c:strRef>
              <c:f>Sheet1!$B$1</c:f>
              <c:strCache>
                <c:ptCount val="1"/>
                <c:pt idx="0">
                  <c:v>median 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fixed round</c:v>
                  </c:pt>
                  <c:pt idx="1">
                    <c:v>learned round</c:v>
                  </c:pt>
                  <c:pt idx="2">
                    <c:v>stretched</c:v>
                  </c:pt>
                  <c:pt idx="3">
                    <c:v>stretched + rotated</c:v>
                  </c:pt>
                </c:lvl>
              </c:multiLvlStrCache>
            </c:multiLvlStrRef>
          </c:cat>
          <c:val>
            <c:numRef>
              <c:f>Sheet1!$B$2:$B$5</c:f>
              <c:numCache>
                <c:formatCode>General</c:formatCode>
                <c:ptCount val="4"/>
                <c:pt idx="0">
                  <c:v>6.82</c:v>
                </c:pt>
                <c:pt idx="1">
                  <c:v>20.36</c:v>
                </c:pt>
                <c:pt idx="2">
                  <c:v>23.32</c:v>
                </c:pt>
                <c:pt idx="3">
                  <c:v>23.96</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Real Tribolium crops: PSNR (dB), axis from 20</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Sheet1!$B$2:$B$4</c:f>
              <c:numCache>
                <c:formatCode>General</c:formatCode>
                <c:ptCount val="3"/>
                <c:pt idx="0">
                  <c:v>22.31</c:v>
                </c:pt>
                <c:pt idx="1">
                  <c:v>25.21</c:v>
                </c:pt>
                <c:pt idx="2">
                  <c:v>25.51</c:v>
                </c:pt>
              </c:numCache>
            </c:numRef>
          </c:val>
        </c:ser>
        <c:dLbls>
          <c:numFmt formatCode="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26"/>
          <c:min val="2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4 Tribolium regions, 110 nuclei</a:t>
            </a:r>
          </a:p>
        </c:rich>
      </c:tx>
      <c:layout/>
      <c:overlay val="0"/>
    </c:title>
    <c:autoTitleDeleted val="0"/>
    <c:plotArea>
      <c:layout/>
      <c:barChart>
        <c:barDir val="col"/>
        <c:grouping val="clustered"/>
        <c:varyColors val="0"/>
        <c:ser>
          <c:idx val="0"/>
          <c:order val="0"/>
          <c:tx>
            <c:strRef>
              <c:f>Sheet1!$B$1</c:f>
              <c:strCache>
                <c:ptCount val="1"/>
                <c:pt idx="0">
                  <c:v>Brightest-peak start</c:v>
                </c:pt>
              </c:strCache>
            </c:strRef>
          </c:tx>
          <c:spPr>
            <a:solidFill>
              <a:srgbClr val="6B7280"/>
            </a:solidFill>
            <a:effectLst/>
          </c:spPr>
          <c:invertIfNegative val="0"/>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Sheet1!$B$2:$B$3</c:f>
              <c:numCache>
                <c:formatCode>General</c:formatCode>
                <c:ptCount val="2"/>
                <c:pt idx="0">
                  <c:v>73</c:v>
                </c:pt>
                <c:pt idx="1">
                  <c:v>52</c:v>
                </c:pt>
              </c:numCache>
            </c:numRef>
          </c:val>
        </c:ser>
        <c:ser>
          <c:idx val="1"/>
          <c:order val="1"/>
          <c:tx>
            <c:strRef>
              <c:f>Sheet1!$C$1</c:f>
              <c:strCache>
                <c:ptCount val="1"/>
                <c:pt idx="0">
                  <c:v>One start per nucleus</c:v>
                </c:pt>
              </c:strCache>
            </c:strRef>
          </c:tx>
          <c:spPr>
            <a:solidFill>
              <a:srgbClr val="2A78D6"/>
            </a:solidFill>
            <a:effectLst/>
          </c:spPr>
          <c:invertIfNegative val="0"/>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Sheet1!$C$2:$C$3</c:f>
              <c:numCache>
                <c:formatCode>General</c:formatCode>
                <c:ptCount val="2"/>
                <c:pt idx="0">
                  <c:v>100</c:v>
                </c:pt>
                <c:pt idx="1">
                  <c:v>71</c:v>
                </c:pt>
              </c:numCache>
            </c:numRef>
          </c:val>
        </c:ser>
        <c:dLbls>
          <c:numFmt formatCode="0&quot;%&quot;"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Blobs that moved to another nucleus vs position step size (×default)</a:t>
            </a:r>
          </a:p>
        </c:rich>
      </c:tx>
      <c:layout/>
      <c:overlay val="0"/>
    </c:title>
    <c:autoTitleDeleted val="0"/>
    <c:plotArea>
      <c:layout/>
      <c:lineChart>
        <c:varyColors val="0"/>
        <c:ser>
          <c:idx val="0"/>
          <c:order val="0"/>
          <c:tx>
            <c:strRef>
              <c:f>Sheet1!$B$1</c:f>
              <c:strCache>
                <c:ptCount val="1"/>
                <c:pt idx="0">
                  <c:v>blobs that moved to another nucleus</c:v>
                </c:pt>
              </c:strCache>
            </c:strRef>
          </c:tx>
          <c:spPr>
            <a:solidFill>
              <a:srgbClr val="2A78D6"/>
            </a:solidFill>
            <a:ln w="38100" cap="flat">
              <a:solidFill>
                <a:srgbClr val="2A78D6"/>
              </a:solidFill>
              <a:prstDash val="solid"/>
              <a:round/>
            </a:ln>
            <a:effectLst/>
          </c:spPr>
          <c:invertIfNegative val="0"/>
          <c:dLbls>
            <c:numFmt formatCode="0&quot;%&quot;" sourceLinked="0"/>
            <c:txPr>
              <a:bodyPr/>
              <a:lstStyle/>
              <a:p>
                <a:pPr>
                  <a:defRPr b="0" i="0" strike="noStrike" sz="1200" u="none">
                    <a:solidFill>
                      <a:srgbClr val="15171C"/>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1×</c:v>
                  </c:pt>
                  <c:pt idx="1">
                    <c:v>3×</c:v>
                  </c:pt>
                  <c:pt idx="2">
                    <c:v>10×</c:v>
                  </c:pt>
                  <c:pt idx="3">
                    <c:v>31×</c:v>
                  </c:pt>
                  <c:pt idx="4">
                    <c:v>62×</c:v>
                  </c:pt>
                </c:lvl>
              </c:multiLvlStrCache>
            </c:multiLvlStrRef>
          </c:cat>
          <c:val>
            <c:numRef>
              <c:f>Sheet1!$B$2:$B$6</c:f>
              <c:numCache>
                <c:formatCode>General</c:formatCode>
                <c:ptCount val="5"/>
                <c:pt idx="0">
                  <c:v>1</c:v>
                </c:pt>
                <c:pt idx="1">
                  <c:v>5.5</c:v>
                </c:pt>
                <c:pt idx="2">
                  <c:v>14.5</c:v>
                </c:pt>
                <c:pt idx="3">
                  <c:v>28</c:v>
                </c:pt>
                <c:pt idx="4">
                  <c:v>32</c:v>
                </c:pt>
              </c:numCache>
            </c:numRef>
          </c:val>
          <c:smooth val="0"/>
        </c:ser>
        <c:dLbls>
          <c:numFmt formatCode="0&quot;%&quot;" sourceLinked="0"/>
          <c:txPr>
            <a:bodyPr/>
            <a:lstStyle/>
            <a:p>
              <a:pPr>
                <a:defRPr b="0" i="0" strike="noStrike" sz="1200" u="none">
                  <a:solidFill>
                    <a:srgbClr val="15171C"/>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A3F4B"/>
                    </a:solidFill>
                    <a:latin typeface="Arial"/>
                  </a:defRPr>
                </a:pPr>
                <a:r>
                  <a:rPr sz="1100" b="0" i="0" u="none" strike="noStrike">
                    <a:solidFill>
                      <a:srgbClr val="3A3F4B"/>
                    </a:solidFill>
                    <a:latin typeface="Arial"/>
                  </a:rPr>
                  <a:t>position step size, multiple of the default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Luxar minus JPEG2000: nuclei kept (points), mean of 12 frames</a:t>
            </a:r>
          </a:p>
        </c:rich>
      </c:tx>
      <c:layout/>
      <c:overlay val="0"/>
    </c:title>
    <c:autoTitleDeleted val="0"/>
    <c:plotArea>
      <c:layout/>
      <c:barChart>
        <c:barDir val="col"/>
        <c:grouping val="clustered"/>
        <c:varyColors val="0"/>
        <c:ser>
          <c:idx val="0"/>
          <c:order val="0"/>
          <c:tx>
            <c:strRef>
              <c:f>Sheet1!$B$1</c:f>
              <c:strCache>
                <c:ptCount val="1"/>
                <c:pt idx="0">
                  <c:v>below 300× smaller</c:v>
                </c:pt>
              </c:strCache>
            </c:strRef>
          </c:tx>
          <c:spPr>
            <a:solidFill>
              <a:srgbClr val="2A78D6"/>
            </a:solidFill>
            <a:effectLst/>
          </c:spPr>
          <c:invertIfNegative val="0"/>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Sheet1!$B$2:$B$5</c:f>
              <c:numCache>
                <c:formatCode>General</c:formatCode>
                <c:ptCount val="4"/>
                <c:pt idx="0">
                  <c:v>1.3</c:v>
                </c:pt>
                <c:pt idx="1">
                  <c:v>-4</c:v>
                </c:pt>
                <c:pt idx="2">
                  <c:v>-9.4</c:v>
                </c:pt>
                <c:pt idx="3">
                  <c:v>3.5</c:v>
                </c:pt>
              </c:numCache>
            </c:numRef>
          </c:val>
        </c:ser>
        <c:ser>
          <c:idx val="1"/>
          <c:order val="1"/>
          <c:tx>
            <c:strRef>
              <c:f>Sheet1!$C$1</c:f>
              <c:strCache>
                <c:ptCount val="1"/>
                <c:pt idx="0">
                  <c:v>300× and beyond</c:v>
                </c:pt>
              </c:strCache>
            </c:strRef>
          </c:tx>
          <c:spPr>
            <a:solidFill>
              <a:srgbClr val="D64545"/>
            </a:solidFill>
            <a:effectLst/>
          </c:spPr>
          <c:invertIfNegative val="0"/>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Sheet1!$C$2:$C$5</c:f>
              <c:numCache>
                <c:formatCode>General</c:formatCode>
                <c:ptCount val="4"/>
                <c:pt idx="0">
                  <c:v>-16.6</c:v>
                </c:pt>
                <c:pt idx="1">
                  <c:v>-19.3</c:v>
                </c:pt>
                <c:pt idx="2">
                  <c:v>-23.2</c:v>
                </c:pt>
                <c:pt idx="3">
                  <c:v>-18.2</c:v>
                </c:pt>
              </c:numCache>
            </c:numRef>
          </c:val>
        </c:ser>
        <c:dLbls>
          <c:numFmt formatCode="+0.0;-0.0" sourceLinked="0"/>
          <c:txPr>
            <a:bodyPr/>
            <a:lstStyle/>
            <a:p>
              <a:pPr>
                <a:defRPr b="0" i="0" strike="noStrike" sz="1200" u="none">
                  <a:solidFill>
                    <a:srgbClr val="1517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
          <c:min val="-30"/>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question: can we store and show a 3D microscope image as a set of soft 3D blobs instead of millions of voxels, and does the biology, the cell nuclei, survive? I will go from the problem, to the data, to the simplest working setup, then one change at a time, and finally compare against the best existing tool.
TERMS ON THIS SLIDE:
- 3D Gaussian blob: a soft, fuzzy ball (or stretched ball) of brightness, brightest in the middle and fading outwards. 'Gaussian' only describes how it fades.
- Voxel: a 3D pixel, one brightness value at one point of the volume.
- Light-sheet microscope: a microscope that lights the sample with a thin sheet of light and images it layer by layer, which gives fast, gentle 3D recordings of living embryos.
IF ASKED:
- Why Gaussians? They are smooth, each needs only 11 numbers, and they can be drawn very fast on a graphics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frame of our Tribolium data has 37 million voxels. One C. elegans recording from the Cell Tracking Challenge has 195 frames, about 2.5 gigabytes even in 8-bit. Real light-sheet experiments run for hours and produce terabytes. That is hard to store, share and look at. So the question: can a much smaller set of blobs stand in for the volume, for storage and for viewing, without losing the nuclei that biologists actually measure?
TERMS ON THIS SLIDE:
- Frame: one 3D snapshot at one time point; a recording is many frames over time.
- 8-bit: each voxel stored as a number from 0 to 255 (one byte).
- Cell nucleus: the compact, DNA-filled centre of a cell. In these images the nuclei are labelled with a fluorescent marker, so they appear as bright blobs.
IF ASKED:
- Where do the numbers come from? 37 million = 71 x 1024 x 512 voxels (Tribolium frame). 2.5 GB = 195 frames x 12.7 MB (C. elegans, 35 x 512 x 708 voxels, 8-bit).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light-sheet recordings of developing embryos, shown as maximum projections. Tribolium, a beetle, was our main development data. Drosophila and C. elegans come from the Cell Tracking Challenge, a public benchmark where people have marked the nuclei by hand. Those hand-made marks are what we use to check results honestly. The C. elegans data, 12 frames with almost 3,000 marked nuclei, is what we used for the final comparison against the state of the art.
TERMS ON THIS SLIDE:
- Maximum projection: a flat picture of a 3D volume made by keeping, along each line of sight, the brightest voxel. It shows the whole embryo at once.
- Cell Tracking Challenge: a public collection of microscopy time-lapse recordings with expert annotations, used to compare methods fairly.
- Marked by hand (ground truth): positions of nuclei clicked by human experts. Results checked against these are not circular.
- Detector-derived reference: positions found by a program, not a person. Useful during development, but a method can look good just by agreeing with the detector.
IF ASKED:
- Why do the voxel sizes matter? The depth step is much larger than the pixel size (e.g. 3.0 vs 0.69 micrometres for Tribolium), so nuclei look stretched in depth. Every setting must therefore be given in micrometres, not voxels.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blob is described by 11 numbers: where it is, how wide it is along three axes, how it is rotated, and how bright it is. Adding all blobs together gives back a full volume, which we compare to the real data voxel by voxel. On the right, a real crop and its reconstruction from 250 blobs: the nuclei are there, the fine texture is smoothed away. 250 blobs need 2,750 numbers instead of about a million voxels.
TERMS ON THIS SLIDE:
- Rotation (4 numbers): stored as a quaternion, a standard 4-number way to describe a 3D rotation without the jumps that angles can have.
- Reconstruction: the volume we get back by drawing all blobs.
- K: the number of blobs we allow (the budget).
IF ASKED:
- Is 2,750 vs 1,048,576 a file-size ratio? No, it is a count of stored numbers; file sizes depend on how each is stored. The file-size comparison comes on the state-of-the-art slides.
- How is the fit done? Start with K blobs, compare their sum with the data, and nudge all 11 x K numbers to reduce the difference (gradient descent with the Adam optimiser), for 3,000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touching real data we built the simplest possible test: a synthetic volume made of blobs, so we know the right answer. We fit blobs to it by comparing the blob sum with the volume at every voxel. It recovers the phantom almost perfectly, 47.9 dB. We also learned something here: the standard 3D Gaussian splatting renderer, designed for photographs of solid objects, treats blobs as blocking the ones behind them. Our volumes are transparent and glowing, so that rule is wrong; scored that way the same kind of fit collapsed to minus 7 dB. So from here on we compare blobs to voxels directly.
TERMS ON THIS SLIDE:
- Phantom: artificial test data with a known answer.
- PSNR (peak signal-to-noise ratio), in dB: a number for how close the reconstruction is to the data; higher is better, +3 dB roughly halves the squared error. It says nothing about whether nuclei survive.
- 3D Gaussian splatting: a 2023 graphics method that represents scenes as blobs and draws them for a camera.
- Alpha-blending (alpha-compositing): the renderer rule that each blob partly hides the blobs behind it. Correct for opaque surfaces, wrong for glowing transparent volumes.
- Comparing at every voxel (voxel query): evaluate the blob sum at each voxel centre and compare with the data. No camera, no hiding.
IF ASKED:
- Why −7.1 dB and 47.9 dB on different phantoms? −7.1 vs 31.7 dB was the controlled comparison on a 15-blob phantom (same fit, two ways of scoring). 47.9 dB is the final phantom fit with 2,000 blobs.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my teammate Akim's work, from his archive of 57 experiments. On the phantom, he compared random starting positions with starting each blob on a bright peak of the data. More fitting steps barely helped random starts, plus 1.7 dB. Starting on peaks jumped from 32 to 53 dB, and with 3,000 steps to 55. So the very first lesson was: where the blobs start matters more than how long you fit.
TERMS ON THIS SLIDE:
- Starting position (initialisation): where each blob is placed before fitting begins.
- Bright peak (local maximum): a voxel brighter than all its neighbours; a quick guess for where a blob belongs.
- Fitting steps (iterations): how many times all blob numbers are adjusted.
- Best of 8 fits: each setting was run with four blob shapes and two budgets (50 and 100 blobs); the bar shows the best one.
IF ASKED:
- Why does a random start fail? Later we found the reason: blobs barely move during fitting with the default step size (Step 7).
- Who did what? Steps 1-4 are Akim's experiments; Steps 0 and 5-8 are ours; the comparison with the state of the art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Then Akim moved to the real Tribolium data: 43 experiments and 299 fits. He compared four blob shapes: a fixed round blob, a round blob whose size is learned, a stretched blob, and a stretched blob that can also rotate. Fixed round blobs basically fail, 6.8 dB. Stretched and rotated blobs are best, median 24 dB. He also varied the number of blobs from 50 to 1,000, how voxels are sampled during fitting, the loss, and an automatic tuner that reads settings from the data. His best fit was 25.9 dB with 750 to 1,000 blobs on the whole volume. He also tried splitting blobs during fitting, densification, which did not beat a fixed budget, and matching the number of blobs to the number of cells, which found cells with F1 0.76.
TERMS ON THIS SLIDE:
- Fixed round blob: every blob has the same, unchangeable size; only position and brightness are fitted.
- Learned round blob: one size per blob, fitted.
- Sampling: each fitting step looks at a random subset of voxels (here 50,000), partly chosen from bright regions.
- Loss: the number the fit tries to reduce, here the squared difference between blobs and data (plus variants Akim tested).
- Automatic settings (auto-tuner): Akim's tool that estimates background, noise, nucleus size and spacing from the data.
- Densification: splitting or cloning blobs during fitting where the error is large (a standard 3D-splatting trick).
IF ASKED:
- Why is fixed round so bad? Its size was fixed at 2 voxels while real nuclei need 5-7, so it cannot cover them; part of the gap is that constant, not roundness itself.
- Why median, not best? One run per setting can be lucky; the median over ~75 fits is more robust. Our next step re-tested this with repeated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Akim also tried letting the number of blobs grow during fitting. He starts with 25 blobs and, where the error stays high, splits or copies blobs, a standard trick from 3D Gaussian splatting called densification. He tried 12 variants: when to add blobs, whether new blobs inherit their parent's settings, how many voxels to sample. On the same crop, grown fits reached slightly better quality for the same number of blobs, for example 24.3 dB with 34 grown blobs against 23.8 dB with 50 fixed blobs. But the best values are close, 24.9 against 24.5 dB, so it is a modest gain, not a breakthrough, and we kept a fixed budget afterwards because it is simpler to control.
TERMS ON THIS SLIDE:
- Densification: adding blobs during fitting by splitting or cloning existing ones where the reconstruction error is large.
- Plateau trigger: only add blobs once the error stops improving.
- Inherit: a new blob starts with its parent's size and brightness instead of default values.
- Fixed budget: the number of blobs is set before fitting and never changes.
IF ASKED:
- Why not use densification then? The gain was within about half a dB, the final number of blobs is harder to predict, and fixed budgets made the later comparisons cleaner.
- Does more fitting time explain it? Partly: the best grown fit used 5,000 steps; the fixed budgets used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Akim's last idea: instead of guessing the number of blobs, count the cells first. A detector found about 230 cells in the whole volume; he then used 1.15 blobs per cell plus 12 percent for the background, which gives 301 blobs, and multiples of that. He then checked how well peaks in the blob reconstruction match the detected cells. Matching improves steadily with more blobs, from F1 0.35 at 301 blobs to 0.76 at 1,804. But look at the right panel: image quality peaks around 900 blobs and then drops. The reason is that all runs stopped after 3,000 steps, which is not enough for a large number of blobs. This was the first sign that image quality and finding cells do not always agree.
TERMS ON THIS SLIDE:
- Cell count: the number of cells, here estimated by a detector from the data, not counted by a person.
- Cell matching F1: how well peaks in the reconstruction match the detected cells; 1.0 is perfect.
- Support blobs (background): the extra blobs not tied to a cell, for the dimmer tissue between nuclei.
- Under-trained: the fit stopped before it had finished improving.
IF ASKED:
- Are the 230 cells ground truth? No, they come from a detector with fixed settings; the hand-marked checks come later (validation slide and the state-of-the-art test).
- Why does PSNR fall with more blobs? The number of fitting steps was fixed at 3,000; more blobs need more steps. We later saw the same confound in our own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first own step was to check Akim's shape result with repeats: the same three blob shapes, each fitted 15 times, with 5 random seeds and 3 blob budgets, on the same kind of real crops. The result holds: 22.3 dB for round blobs, 25.5 for stretched and rotated, and the spread between repeats is small. Most of the gain comes from stretching; rotation adds half a dB. And the blobs did what we expected: their depth-to-width ratio, 0.79, is close to the ratio measured on the real nuclei, 0.73. Real nuclei look stretched in depth partly because the microscope blurs more along that axis.
TERMS ON THIS SLIDE:
- Round (isotropic) blob: same size in every direction.
- Stretched (anisotropic, axis-aligned) blob: three independent sizes along x, y and z.
- Rotation: lets the stretched blob point in any direction.
- Seed: the random number that decides the starting point of a fit; different seeds test whether a result is luck.
IF ASKED:
- Did this also help finding nuclei? Slightly: nucleus F1 0.745 (round) vs 0.805 (stretched + rotated), significant in a paired test (p = 0.006, 5 seeds).
- Why does the axis start at 20? To make a 3 dB difference visible; it is stated on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Building on Akim's peak starts. We measured how far blobs travel during fitting: less than one voxel on average, while nuclei are about 20 voxels apart. So a blob that starts between nuclei stays there. Akim's start put blobs on the brightest peaks, and bright background crowded out faint nuclei: only 73% of nuclei had a blob at the start. Starting one blob per detected nucleus covers all of them and raises the share of nuclei found after fitting from 52 to 71%.
TERMS ON THIS SLIDE:
- Detected nucleus / peak: a local brightness maximum found by a simple detector before fitting.
- Peak-search window (non-maximum suppression): around each peak, weaker peaks closer than a set distance are ignored, so one nucleus gives one peak.
- Found after fitting (recall): the share of reference nuclei that a detector still finds in the reconstruction.
IF ASKED:
- Is this circular? Partly, on Tribolium: the reference nuclei came from a related detector. On hand-marked Drosophila nuclei the 'window = nucleus spacing' rule did NOT transfer; what transferred was setting windows in micrometres, not voxels.
- Why did blobs not move? See the next step: the step size was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did blobs not move? The step size for positions was taken from 3D-splatting code made for photo scenes, where coordinates are small, and we never rescaled it for voxel coordinates. Raising it lets blobs travel: one in three moves to a different nucleus. With bad starting points this closes the gap completely. But with good starting points it slightly hurts. So the lesson is a trade-off: good starts with small steps is still best, at F1 0.84.
TERMS ON THIS SLIDE:
- Learning rate / step size: how far each fitting step moves the numbers. Too small: blobs barely move. Too large: they overshoot.
- F1: one number combining 'how many real nuclei were found' and 'how many detections were real'; 1.0 is perfect.
- Moved to another nucleus (migration): the nearest nucleus of a blob changed between start and end.
IF ASKED:
- Does that undo Steps 1 and 6? It reframes them: starting points mattered so much because blobs could not move. With a suitable step size, a random start reaches the same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then asked which nuclei are still lost. They are the faint ones, and when we followed their blobs during fitting, the blobs did not fade; they spread out, about 30 percent wider than for nuclei we kept, until there was no peak left to detect. So we capped the width of nucleus blobs. Over four regions, faint nuclei found went from 13 of 31 to 19 of 31, and image quality changed by only 0.01 dB. Honestly: one region got worse, and on the Drosophila data the cap changed nothing.
TERMS ON THIS SLIDE:
- Faint nucleus: one whose brightness above the surroundings is in the lower half.
- Size cap: an upper limit on a blob's size, applied only to the blobs that started on nuclei.
- Region: one 64 x 128 x 128 crop of the Tribolium frame.
IF ASKED:
- Is +6 nuclei significant? It is one seed and 4 regions, so treat it as promising, not settled. The result survived a scoring-bug fix (it was +7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are all eight changes side by side, four by Akim and four by us, each compared with the version just before it. I want to be clear that these were measured one at a time, on different data and with different numbers of repeats, so you cannot add them up into one overall improvement. Together they turn a fit that merely looks right into one where the nuclei are found much more reliably.
TERMS ON THIS SLIDE:
- Naive / simple setup: round blobs with random starting positions, default step size, no cap.
IF ASKED:
- Why not one combined number? Each experiment used a different number of regions, seeds and references; combining them would hide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checks that the fit does what we think. First, shape: the learned blobs are about as stretched as the real nuclei. Second, the honest test against people's annotations: on Drosophila, among the 100 most confident detections, the fitted blobs contain 14 of 29 hand-marked nuclei, the raw image only 10. So fitting ranks real nuclei higher. Third, fits are repeatable. And the limit: if the plain detector may use all its candidates it finds 26 of 29, more than any fit. So this is better ranking, not a better detector.
TERMS ON THIS SLIDE:
- Top 100 detections: compare methods at the same number of guesses, because only some nuclei are marked and extra detections cannot be judged as wrong.
- Raw-image detector: the same peak detector run directly on the original data.
- Repeated fits: the same data fitted three times; for the Luxar fits used later, nuclei kept differed by at most 2.1-3.7 points depending on the detector.
IF ASKED:
- How noisy is 14 vs 10? One nucleus is 3.4% of 29; we only call a difference real if it is about 3 nuclei and has the same sign in all seeds (mean of 3 seeds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own fits were better than our naive start, but are they better than what exists? The strongest existing tool is Luxar, from the Royer lab, which fits Gaussian blobs to large microscopy data. We compared Luxar with ordinary image compression, JPEG2000, squeezed to exactly the same number of bytes, on 12 C. elegans frames with almost 3,000 hand-marked nuclei, and asked four different nucleus detectors how many nuclei survive. The pictures show the same region at about 89 times smaller: the codecs keep the texture, Luxar draws smooth blobs.
TERMS ON THIS SLIDE:
- Compression ratio: original size divided by compressed size; 100x means 100 times smaller.
- Same file size (matched bytes): every Luxar file is compared with a JPEG2000 file of exactly the same size on disk.
- JPEG2000 / JPEG-XL: standard image compression formats; here each 2D slice of the volume is compressed.
- Nuclei kept: nuclei found after compression divided by nuclei found in the original by the same detector (1.0 = nothing lost).
IF ASKED:
- Why not compare with our own fits? Luxar is faster and better engineered; if blobs are to win anywhere, the strongest blob tool must win.
- We found a bug in our own first JPEG2000 setup (it compressed the volume along the wrong axes, about 10 dB worse). Fixing it reversed our first conclusion; a test now prevents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result. Bars above zero mean the blobs kept more nuclei than JPEG2000 at the same file size; below zero, JPEG2000 kept more. Up to about 300 times compression the answer depends on the detector: Cellpose in 3D mode finds 3.5 points more nuclei in the blob version, the classical watershed and Cellpose in 2D mode find more in JPEG2000, and the simple blob detector LoG shows no consistent difference. Beyond 300 times, every detector prefers JPEG2000 by 17 to 23 points. Meanwhile PSNR says JPEG2000 is better on every single frame, so PSNR alone could not have told you which format a given analysis needs. The same Cellpose network changing sides between 2D and 3D mode shows the problem comes from processing slice by slice.
TERMS ON THIS SLIDE:
- LoG (Laplacian of Gaussian): a classic blob detector that responds to bright round spots of a given size.
- Watershed: a classical segmentation that separates touching bright regions, like water filling valleys.
- Cellpose: a widely used deep-learning model that outlines cells or nuclei. 2D mode works slice by slice and joins slices; 3D mode looks at the volume in three directions at once.
- Points: percentage points of nuclei kept, e.g. 0.90 vs 0.86 is 4 points.
- Statistics: each frame counts once; Wilcoxon signed-rank tests over the 12 frames, Holm-corrected for 8 tests. Everything except LoG below 300x is significant (p ≤ 0.01).
IF ASKED:
- Is LoG +1.3 real? No: 8 of 12 frames, p = 0.11; it comes from one embryo only.
- Why does JPEG2000 win at high compression? Below about 3 blobs per nucleus, blob fits lose whole nuclei; wavelet compression degrades gradually.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do blobs collapse at high compression? Each point is one Luxar fit; the x axis is blobs per hand-marked nucleus. Above about 3 blobs per nucleus almost every nucleus survives; below that, they disappear quickly, on every frame of both embryos. At the same time, PSNR changes very little across these budgets. So if you choose the budget by image quality, you can fall off this cliff without noticing.
TERMS ON THIS SLIDE:
- Blobs per nucleus: number of blobs in the fit divided by the number of hand-marked nuclei in that frame.
- Cliff: a sudden drop instead of a gradual decline.
- 90% line: the threshold we fixed in advance to define the cliff (we wrote down '≤ 3.5 blobs per nucleus' before running the extra frames).
IF ASKED:
- Why fix thresholds in advance? So we cannot tune the claim to the data afterwards. Two of our advance predictions failed, and we report them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take-aways. One: our step-by-step changes made blob fits find nuclei much more reliably. Two: compared with the state of the art at equal file size, blobs are good for viewing but not the right format for measuring; a standard codec keeps the nuclei as well or better. Three: the usual image-quality number cannot decide this; you have to test with the analysis you plan to run.
TERMS ON THIS SLIDE:
- Codec: a compression method (coder-decoder).
IF ASKED:
- So was the project a failure? No: we now know where blobs should and should not be trusted, which is what a user needs; and the evaluation method itself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Following our supervisor's advice, the next step is compression biologists would actually use: lossless storage, or near-lossless where every error stays below the camera noise; video codecs, which exploit the similarity between neighbouring slices and time points; and judging success by whether cells can still be tracked, using the Cell Tracking Challenge's official scores.
TERMS ON THIS SLIDE:
- Lossless: the decompressed data is bit-for-bit identical to the original.
- Near-lossless / noise-bounded: every voxel may change, but by less than the camera's own noise.
- Video codec: compression made for movies (e.g. H.265, AV1) that predicts each frame from its neighbours.
- Tracking: following each cell over time, including divisions.
IF ASKED:
- How much do lossless methods give? Typically 2-4x on microscopy (we measured 4.2x with lossless JPEG-XL on C. elegans); noise-bounded methods reach far more on raw camera data (up to ~100x reported for B3D).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rtlCol="0"/>
          <a:lstStyle>
            <a:lvl1pPr algn="l" indent="0" marL="0">
              <a:buNone/>
              <a:defRPr lang="en-US" sz="1600" dirty="0">
                <a:solidFill>
                  <a:srgbClr val="C9CDD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LIST">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rtlCol="0"/>
          <a:lstStyle>
            <a:lvl1pPr algn="l" indent="0" marL="0">
              <a:buNone/>
              <a:defRPr lang="en-US" sz="1700" dirty="0">
                <a:solidFill>
                  <a:srgbClr val="E5E7EB"/>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5943600" cy="228600"/>
          </a:xfrm>
          <a:prstGeom prst="rect">
            <a:avLst/>
          </a:prstGeom>
          <a:noFill/>
          <a:ln/>
        </p:spPr>
        <p:txBody>
          <a:bodyPr wrap="square" lIns="0" tIns="0" rIns="0" bIns="0" rtlCol="0" anchor="ctr"/>
          <a:lstStyle/>
          <a:p>
            <a:pPr indent="0" marL="0">
              <a:buNone/>
            </a:pPr>
            <a:r>
              <a:rPr lang="en-US" sz="900" dirty="0">
                <a:solidFill>
                  <a:schemeClr val="accent5"/>
                </a:solidFill>
              </a:rPr>
              <a:t>Gaussian blobs for 3D microscopy  ·  MLCV seminar, TU Dresden</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lIns="0" tIns="0" rIns="0" bIns="0" rtlCol="0" anchor="b"/>
          <a:lstStyle/>
          <a:p>
            <a:pPr algn="l" indent="0" marL="0">
              <a:buNone/>
            </a:pPr>
            <a:r>
              <a:rPr lang="en-US" sz="3400" b="1" dirty="0">
                <a:solidFill>
                  <a:schemeClr val="bg1"/>
                </a:solidFill>
              </a:rPr>
              <a:t>Can 3D Gaussian blobs replace microscopy volumes?</a:t>
            </a: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lIns="0" tIns="0" rIns="0" bIns="0" rtlCol="0" anchor="t"/>
          <a:lstStyle/>
          <a:p>
            <a:pPr algn="l" indent="0" marL="0">
              <a:buNone/>
            </a:pPr>
            <a:r>
              <a:rPr lang="en-US" sz="1600" dirty="0">
                <a:solidFill>
                  <a:srgbClr val="C9CDD6"/>
                </a:solidFill>
              </a:rPr>
              <a:t>Syed Muhammad Asad, Akim</a:t>
            </a:r>
            <a:endParaRPr lang="en-US" sz="1600" dirty="0"/>
          </a:p>
          <a:p>
            <a:pPr algn="l" indent="0" marL="0">
              <a:buNone/>
            </a:pPr>
            <a:r>
              <a:rPr lang="en-US" sz="1600" dirty="0">
                <a:solidFill>
                  <a:srgbClr val="C9CDD6"/>
                </a:solidFill>
              </a:rPr>
              <a:t>MLCV seminar team project, TU Dresden</a:t>
            </a:r>
            <a:endParaRPr lang="en-US" sz="1600" dirty="0"/>
          </a:p>
          <a:p>
            <a:pPr algn="l" indent="0" marL="0">
              <a:buNone/>
            </a:pPr>
            <a:r>
              <a:rPr lang="en-US" sz="1600" dirty="0">
                <a:solidFill>
                  <a:srgbClr val="C9CDD6"/>
                </a:solidFill>
              </a:rPr>
              <a:t>Supervisor: Prof. Martin Weigert</a:t>
            </a:r>
            <a:endParaRPr lang="en-US" sz="1600" dirty="0"/>
          </a:p>
        </p:txBody>
      </p:sp>
      <p:pic>
        <p:nvPicPr>
          <p:cNvPr id="4" name="title-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
        <p:nvSpPr>
          <p:cNvPr id="5" name="Text 2"/>
          <p:cNvSpPr txBox="1"/>
          <p:nvPr/>
        </p:nvSpPr>
        <p:spPr>
          <a:xfrm>
            <a:off x="5943600" y="4800600"/>
            <a:ext cx="2926080" cy="228600"/>
          </a:xfrm>
          <a:prstGeom prst="rect">
            <a:avLst/>
          </a:prstGeom>
          <a:noFill/>
          <a:ln/>
        </p:spPr>
        <p:txBody>
          <a:bodyPr wrap="square" lIns="0" tIns="0" rIns="0" bIns="0" rtlCol="0" anchor="t"/>
          <a:lstStyle/>
          <a:p>
            <a:pPr algn="r" indent="0" marL="0">
              <a:buNone/>
            </a:pPr>
            <a:r>
              <a:rPr lang="en-US" sz="1000" dirty="0">
                <a:solidFill>
                  <a:srgbClr val="9CA3AF"/>
                </a:solidFill>
              </a:rPr>
              <a:t>Tribolium embryo, light-sheet microscope (real data)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Microscopy volumes are too big to handle easily</a:t>
            </a:r>
            <a:endParaRPr lang="en-US" sz="2800" dirty="0"/>
          </a:p>
        </p:txBody>
      </p:sp>
      <p:sp>
        <p:nvSpPr>
          <p:cNvPr id="3" name="stat-0"/>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 million</a:t>
            </a:r>
            <a:endParaRPr lang="en-US" sz="3600" dirty="0"/>
          </a:p>
        </p:txBody>
      </p:sp>
      <p:sp>
        <p:nvSpPr>
          <p:cNvPr id="5" name="Text 3"/>
          <p:cNvSpPr txBox="1"/>
          <p:nvPr/>
        </p:nvSpPr>
        <p:spPr>
          <a:xfrm>
            <a:off x="64008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voxels in one Tribolium frame</a:t>
            </a:r>
            <a:endParaRPr lang="en-US" sz="1500" dirty="0"/>
          </a:p>
        </p:txBody>
      </p:sp>
      <p:sp>
        <p:nvSpPr>
          <p:cNvPr id="6" name="stat-1"/>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2.5 GB</a:t>
            </a:r>
            <a:endParaRPr lang="en-US" sz="3600" dirty="0"/>
          </a:p>
        </p:txBody>
      </p:sp>
      <p:sp>
        <p:nvSpPr>
          <p:cNvPr id="8" name="Text 6"/>
          <p:cNvSpPr txBox="1"/>
          <p:nvPr/>
        </p:nvSpPr>
        <p:spPr>
          <a:xfrm>
            <a:off x="342900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C. elegans recording (195 frames)</a:t>
            </a:r>
            <a:endParaRPr lang="en-US" sz="1500" dirty="0"/>
          </a:p>
        </p:txBody>
      </p:sp>
      <p:sp>
        <p:nvSpPr>
          <p:cNvPr id="9" name="stat-2"/>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terabytes</a:t>
            </a:r>
            <a:endParaRPr lang="en-US" sz="3600" dirty="0"/>
          </a:p>
        </p:txBody>
      </p:sp>
      <p:sp>
        <p:nvSpPr>
          <p:cNvPr id="11" name="Text 9"/>
          <p:cNvSpPr txBox="1"/>
          <p:nvPr/>
        </p:nvSpPr>
        <p:spPr>
          <a:xfrm>
            <a:off x="621792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long light-sheet experiment</a:t>
            </a:r>
            <a:endParaRPr lang="en-US" sz="1500" dirty="0"/>
          </a:p>
        </p:txBody>
      </p:sp>
      <p:sp>
        <p:nvSpPr>
          <p:cNvPr id="12" name="Text 10"/>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b="1" dirty="0">
                <a:solidFill>
                  <a:schemeClr val="tx1"/>
                </a:solidFill>
              </a:rPr>
              <a:t>Question: can a few thousand 3D blobs store and show such a volume, and still keep every cell nucleus?</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Three real embryo recordings</a:t>
            </a:r>
            <a:endParaRPr lang="en-US" sz="2800" dirty="0"/>
          </a:p>
        </p:txBody>
      </p:sp>
      <p:pic>
        <p:nvPicPr>
          <p:cNvPr id="3" name="data-three" descr="D:\masters\MLCV seminar\TeamProject\presentation\figs\data_three.png">    </p:cNvPr>
          <p:cNvPicPr>
            <a:picLocks noChangeAspect="1"/>
          </p:cNvPicPr>
          <p:nvPr/>
        </p:nvPicPr>
        <p:blipFill>
          <a:blip r:embed="rId1"/>
          <a:stretch>
            <a:fillRect/>
          </a:stretch>
        </p:blipFill>
        <p:spPr>
          <a:xfrm>
            <a:off x="457200" y="1005840"/>
            <a:ext cx="8229600" cy="2852928"/>
          </a:xfrm>
          <a:prstGeom prst="rect">
            <a:avLst/>
          </a:prstGeom>
        </p:spPr>
      </p:pic>
      <p:sp>
        <p:nvSpPr>
          <p:cNvPr id="4" name="Text 1"/>
          <p:cNvSpPr txBox="1"/>
          <p:nvPr/>
        </p:nvSpPr>
        <p:spPr>
          <a:xfrm>
            <a:off x="45720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Tribolium</a:t>
            </a:r>
            <a:endParaRPr lang="en-US" sz="1400" dirty="0"/>
          </a:p>
          <a:p>
            <a:pPr indent="0" marL="0">
              <a:buNone/>
            </a:pPr>
            <a:r>
              <a:rPr lang="en-US" sz="1400" dirty="0">
                <a:solidFill>
                  <a:schemeClr val="tx2"/>
                </a:solidFill>
              </a:rPr>
              <a:t>1 frame, own reference nuclei from a detector</a:t>
            </a:r>
            <a:endParaRPr lang="en-US" sz="1400" dirty="0"/>
          </a:p>
        </p:txBody>
      </p:sp>
      <p:sp>
        <p:nvSpPr>
          <p:cNvPr id="5" name="Text 2"/>
          <p:cNvSpPr txBox="1"/>
          <p:nvPr/>
        </p:nvSpPr>
        <p:spPr>
          <a:xfrm>
            <a:off x="324612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Drosophila</a:t>
            </a:r>
            <a:endParaRPr lang="en-US" sz="1400" dirty="0"/>
          </a:p>
          <a:p>
            <a:pPr indent="0" marL="0">
              <a:buNone/>
            </a:pPr>
            <a:r>
              <a:rPr lang="en-US" sz="1400" dirty="0">
                <a:solidFill>
                  <a:schemeClr val="tx2"/>
                </a:solidFill>
              </a:rPr>
              <a:t>Cell Tracking Challenge, nuclei marked by hand</a:t>
            </a:r>
            <a:endParaRPr lang="en-US" sz="1400" dirty="0"/>
          </a:p>
        </p:txBody>
      </p:sp>
      <p:sp>
        <p:nvSpPr>
          <p:cNvPr id="6" name="Text 3"/>
          <p:cNvSpPr txBox="1"/>
          <p:nvPr/>
        </p:nvSpPr>
        <p:spPr>
          <a:xfrm>
            <a:off x="603504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C. elegans</a:t>
            </a:r>
            <a:endParaRPr lang="en-US" sz="1400" dirty="0"/>
          </a:p>
          <a:p>
            <a:pPr indent="0" marL="0">
              <a:buNone/>
            </a:pPr>
            <a:r>
              <a:rPr lang="en-US" sz="1400" dirty="0">
                <a:solidFill>
                  <a:schemeClr val="tx2"/>
                </a:solidFill>
              </a:rPr>
              <a:t>Cell Tracking Challenge, 12 frames, 2,958 nuclei marked by hand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volume written as a sum of blobs</a:t>
            </a:r>
            <a:endParaRPr lang="en-US" sz="2800" dirty="0"/>
          </a:p>
        </p:txBody>
      </p:sp>
      <p:sp>
        <p:nvSpPr>
          <p:cNvPr id="3" name="Text 1"/>
          <p:cNvSpPr txBox="1"/>
          <p:nvPr/>
        </p:nvSpPr>
        <p:spPr>
          <a:xfrm>
            <a:off x="457200" y="1097280"/>
            <a:ext cx="402336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volume ≈ blob 1 + … + blob K</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3931920" cy="914400"/>
        </p:xfrm>
        <a:graphic>
          <a:graphicData uri="http://schemas.openxmlformats.org/drawingml/2006/table">
            <a:tbl>
              <a:tblPr/>
              <a:tblGrid>
                <a:gridCol w="2926080"/>
                <a:gridCol w="1005840"/>
              </a:tblGrid>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position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size along 3 axes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rotation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brightness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b="1" dirty="0">
                          <a:solidFill>
                            <a:srgbClr val="15171C"/>
                          </a:solidFill>
                          <a:latin typeface="Calibri" pitchFamily="34" charset="0"/>
                          <a:ea typeface="Calibri" pitchFamily="34" charset="-122"/>
                          <a:cs typeface="Calibri" pitchFamily="34" charset="-120"/>
                        </a:rPr>
                        <a:t>numbers per blob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E8730C"/>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023360" cy="548640"/>
          </a:xfrm>
          <a:prstGeom prst="rect">
            <a:avLst/>
          </a:prstGeom>
          <a:noFill/>
          <a:ln/>
        </p:spPr>
        <p:txBody>
          <a:bodyPr wrap="square" lIns="0" tIns="0" rIns="0" bIns="0" rtlCol="0" anchor="t"/>
          <a:lstStyle/>
          <a:p>
            <a:pPr indent="0" marL="0">
              <a:buNone/>
            </a:pPr>
            <a:r>
              <a:rPr lang="en-US" sz="1500" dirty="0">
                <a:solidFill>
                  <a:schemeClr val="tx2"/>
                </a:solidFill>
              </a:rPr>
              <a:t>250 blobs = 2,750 numbers instead of 1,048,576 voxels</a:t>
            </a:r>
            <a:endParaRPr lang="en-US" sz="1500" dirty="0"/>
          </a:p>
        </p:txBody>
      </p:sp>
      <p:pic>
        <p:nvPicPr>
          <p:cNvPr id="6" name="real-vs-fit" descr="D:\masters\MLCV seminar\TeamProject\presentation\figs\real_vs_fit.png">    </p:cNvPr>
          <p:cNvPicPr>
            <a:picLocks noChangeAspect="1"/>
          </p:cNvPicPr>
          <p:nvPr/>
        </p:nvPicPr>
        <p:blipFill>
          <a:blip r:embed="rId1"/>
          <a:stretch>
            <a:fillRect/>
          </a:stretch>
        </p:blipFill>
        <p:spPr>
          <a:xfrm>
            <a:off x="4617720" y="1143000"/>
            <a:ext cx="4069080" cy="2057400"/>
          </a:xfrm>
          <a:prstGeom prst="rect">
            <a:avLst/>
          </a:prstGeom>
        </p:spPr>
      </p:pic>
      <p:sp>
        <p:nvSpPr>
          <p:cNvPr id="7" name="Text 3"/>
          <p:cNvSpPr txBox="1"/>
          <p:nvPr/>
        </p:nvSpPr>
        <p:spPr>
          <a:xfrm>
            <a:off x="4617720" y="3291840"/>
            <a:ext cx="4069080" cy="274320"/>
          </a:xfrm>
          <a:prstGeom prst="rect">
            <a:avLst/>
          </a:prstGeom>
          <a:noFill/>
          <a:ln/>
        </p:spPr>
        <p:txBody>
          <a:bodyPr wrap="square" lIns="0" tIns="0" rIns="0" bIns="0" rtlCol="0" anchor="t"/>
          <a:lstStyle/>
          <a:p>
            <a:pPr indent="0" marL="0">
              <a:buNone/>
            </a:pPr>
            <a:r>
              <a:rPr lang="en-US" sz="1100" dirty="0">
                <a:solidFill>
                  <a:schemeClr val="accent5"/>
                </a:solidFill>
              </a:rPr>
              <a:t>Real Tribolium crop and its fit (maximum projections)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0 · A phantom with a known answer</a:t>
            </a:r>
            <a:endParaRPr lang="en-US" sz="2800" dirty="0"/>
          </a:p>
        </p:txBody>
      </p:sp>
      <p:pic>
        <p:nvPicPr>
          <p:cNvPr id="3" name="phantom" descr="D:\masters\MLCV seminar\TeamProject\presentation\figs\phantom.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Synthetic volume, maximum projections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SETUP</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Fit round blobs to a volume that is itself made of blobs; compare at every voxel</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the code is right, it must recover a known answer</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47.9 dB, almost perfect. The usual splatting renderer scored −7.1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1 · Start blobs on bright peaks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Random starting positions → one blob on each bright peak</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 blob that starts far from any structure wastes the whole fit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+21 dB on the phantom (32 → 53); more steps alone gave only +1.7</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2 · Real data: stretched, rotated blobs win</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TESTED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43 experiments, 299 fits: 4 blob shapes, 50-1,000 blobs, sampling, loss, automatic settings</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Real nuclei are not the phantom: stretched, unevenly bright, packed tightly</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Stretched + rotated blobs best; top fit 25.9 dB with 750-1,000 blobs on the whole volume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3 · Grow blobs where the error is large</a:t>
            </a:r>
            <a:endParaRPr lang="en-US" sz="2800" dirty="0"/>
          </a:p>
        </p:txBody>
      </p:sp>
      <p:pic>
        <p:nvPicPr>
          <p:cNvPr id="3" name="akim-densify" descr="D:\masters\MLCV seminar\TeamProject\presentation\figs\akim_densify.png">    </p:cNvPr>
          <p:cNvPicPr>
            <a:picLocks noChangeAspect="1"/>
          </p:cNvPicPr>
          <p:nvPr/>
        </p:nvPicPr>
        <p:blipFill>
          <a:blip r:embed="rId1"/>
          <a:stretch>
            <a:fillRect/>
          </a:stretch>
        </p:blipFill>
        <p:spPr>
          <a:xfrm>
            <a:off x="457200" y="1097280"/>
            <a:ext cx="4846320" cy="2971800"/>
          </a:xfrm>
          <a:prstGeom prst="rect">
            <a:avLst/>
          </a:prstGeom>
        </p:spPr>
      </p:pic>
      <p:sp>
        <p:nvSpPr>
          <p:cNvPr id="4" name="Text 1"/>
          <p:cNvSpPr txBox="1"/>
          <p:nvPr/>
        </p:nvSpPr>
        <p:spPr>
          <a:xfrm>
            <a:off x="457200" y="4160520"/>
            <a:ext cx="4846320" cy="274320"/>
          </a:xfrm>
          <a:prstGeom prst="rect">
            <a:avLst/>
          </a:prstGeom>
          <a:noFill/>
          <a:ln/>
        </p:spPr>
        <p:txBody>
          <a:bodyPr wrap="square" lIns="0" tIns="0" rIns="0" bIns="0" rtlCol="0" anchor="t"/>
          <a:lstStyle/>
          <a:p>
            <a:pPr indent="0" marL="0">
              <a:buNone/>
            </a:pPr>
            <a:r>
              <a:rPr lang="en-US" sz="1100" dirty="0">
                <a:solidFill>
                  <a:schemeClr val="accent5"/>
                </a:solidFill>
              </a:rPr>
              <a:t>Akim's runs, same Tribolium crop, stretched + rotated blobs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Start with 25 blobs; add new ones where the error stays high (12 variants)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Let the data decide how many blobs it needs, instead of guessing</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Slightly better per blob (34 grown: 24.3 dB vs 50 fixed: 23.8 dB); best 24.9 vs 24.5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4 · Set the budget from the cell count</a:t>
            </a:r>
            <a:endParaRPr lang="en-US" sz="2800" dirty="0"/>
          </a:p>
        </p:txBody>
      </p:sp>
      <p:pic>
        <p:nvPicPr>
          <p:cNvPr id="3" name="akim-cellbudget" descr="D:\masters\MLCV seminar\TeamProject\presentation\figs\akim_cellbudget.png">    </p:cNvPr>
          <p:cNvPicPr>
            <a:picLocks noChangeAspect="1"/>
          </p:cNvPicPr>
          <p:nvPr/>
        </p:nvPicPr>
        <p:blipFill>
          <a:blip r:embed="rId1"/>
          <a:stretch>
            <a:fillRect/>
          </a:stretch>
        </p:blipFill>
        <p:spPr>
          <a:xfrm>
            <a:off x="457200" y="1097280"/>
            <a:ext cx="4846320" cy="2852928"/>
          </a:xfrm>
          <a:prstGeom prst="rect">
            <a:avLst/>
          </a:prstGeom>
        </p:spPr>
      </p:pic>
      <p:sp>
        <p:nvSpPr>
          <p:cNvPr id="4" name="Text 1"/>
          <p:cNvSpPr txBox="1"/>
          <p:nvPr/>
        </p:nvSpPr>
        <p:spPr>
          <a:xfrm>
            <a:off x="457200" y="4023360"/>
            <a:ext cx="4846320" cy="274320"/>
          </a:xfrm>
          <a:prstGeom prst="rect">
            <a:avLst/>
          </a:prstGeom>
          <a:noFill/>
          <a:ln/>
        </p:spPr>
        <p:txBody>
          <a:bodyPr wrap="square" lIns="0" tIns="0" rIns="0" bIns="0" rtlCol="0" anchor="t"/>
          <a:lstStyle/>
          <a:p>
            <a:pPr indent="0" marL="0">
              <a:buNone/>
            </a:pPr>
            <a:r>
              <a:rPr lang="en-US" sz="1100" dirty="0">
                <a:solidFill>
                  <a:schemeClr val="accent5"/>
                </a:solidFill>
              </a:rPr>
              <a:t>Akim's runs, whole Tribolium volume, 230 cells found by a detector</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Count cells first (230), then use ~1.15 blobs per cell + 12% for background (301), and multiples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each cell gets a blob, the blobs should match the cells</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Cell matching F1 0.35 → 0.76 with more blobs, while PSNR falls past ~900 blobs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5 · Repeats confirm: stretching is real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DID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Re-ran round, stretched and stretched + rotated blobs with 5 seeds and 3 budgets each</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Akim had one run per setting; a single run can be luck</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+3.2 dB with small spread; learned blobs are as stretched as real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6 · Start each blob on a nucleus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Bright-peak starts → one starting blob on every detected nucleus first</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During fitting blobs moved less than 1 voxel; nuclei are ~20 voxels apart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Every nucleus gets a blob (73% → 100%); found nuclei 52% → 71%</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7 · Bigger steps let blobs travel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Raised the step size for blob positions up to 62×</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The default was copied from photo-scene code and never scaled to voxel units</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Badly started fits catch up (F1 0.64 → 0.78), but good starts get worse (0.84 → 0.78)</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8 · Faint nuclei: cap the blob size</a:t>
            </a:r>
            <a:endParaRPr lang="en-US" sz="2800" dirty="0"/>
          </a:p>
        </p:txBody>
      </p:sp>
      <p:pic>
        <p:nvPicPr>
          <p:cNvPr id="3" name="size-cap" descr="D:\masters\MLCV seminar\TeamProject\presentation\figs\size_cap.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Green: nucleus found  ·  red: missed</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Limited how wide a nucleus blob may grow (10 voxels)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Lost faint nuclei had blobs ~30% wider, spread out until no peak was left</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Faint nuclei found: 13 → 19 of 31. Image quality unchanged; 1 of 4 regions worse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From the simple setup to the final recipe</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514600"/>
                <a:gridCol w="685800"/>
                <a:gridCol w="2377440"/>
                <a:gridCol w="1325880"/>
                <a:gridCol w="1325880"/>
              </a:tblGrid>
              <a:tr h="32918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By</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Measured on</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Before</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After</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Start on bright peaks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phantom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32.0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53.1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Stretched + rotated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real data, median</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20.4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24.0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Grow blobs during fitting</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~35-50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23.8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24.3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Blobs set from cell count</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cell matching F1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0.35</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0.76</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Repeats of the shape test</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15 fits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22.3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25.5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One start per nucleus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nuclei found, of 110</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71%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Bigger position steps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F1, random starts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0.64</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Size cap</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faint nuclei found, of 31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224528"/>
            <a:ext cx="8229600" cy="365760"/>
          </a:xfrm>
          <a:prstGeom prst="rect">
            <a:avLst/>
          </a:prstGeom>
          <a:noFill/>
          <a:ln/>
        </p:spPr>
        <p:txBody>
          <a:bodyPr wrap="square" lIns="0" tIns="0" rIns="0" bIns="0" rtlCol="0" anchor="t"/>
          <a:lstStyle/>
          <a:p>
            <a:pPr indent="0" marL="0">
              <a:buNone/>
            </a:pPr>
            <a:r>
              <a:rPr lang="en-US" sz="1400" dirty="0">
                <a:solidFill>
                  <a:schemeClr val="tx2"/>
                </a:solidFill>
              </a:rPr>
              <a:t>Each change measured on its own, against the version before it; the numbers are not added together.</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Does the fit behave as expected?</a:t>
            </a:r>
            <a:endParaRPr lang="en-US" sz="2800" dirty="0"/>
          </a:p>
        </p:txBody>
      </p:sp>
      <p:sp>
        <p:nvSpPr>
          <p:cNvPr id="3" name="check-0"/>
          <p:cNvSpPr/>
          <p:nvPr/>
        </p:nvSpPr>
        <p:spPr>
          <a:xfrm>
            <a:off x="457200" y="114300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0.79 vs 0.73</a:t>
            </a:r>
            <a:endParaRPr lang="en-US" sz="3200" dirty="0"/>
          </a:p>
        </p:txBody>
      </p:sp>
      <p:sp>
        <p:nvSpPr>
          <p:cNvPr id="5" name="Text 3"/>
          <p:cNvSpPr txBox="1"/>
          <p:nvPr/>
        </p:nvSpPr>
        <p:spPr>
          <a:xfrm>
            <a:off x="64008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depth-to-width ratio: learned blobs vs measured nuclei</a:t>
            </a:r>
            <a:endParaRPr lang="en-US" sz="1500" dirty="0"/>
          </a:p>
        </p:txBody>
      </p:sp>
      <p:sp>
        <p:nvSpPr>
          <p:cNvPr id="6" name="check-1"/>
          <p:cNvSpPr/>
          <p:nvPr/>
        </p:nvSpPr>
        <p:spPr>
          <a:xfrm>
            <a:off x="3246120" y="114300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14 vs 10</a:t>
            </a:r>
            <a:endParaRPr lang="en-US" sz="3200" dirty="0"/>
          </a:p>
        </p:txBody>
      </p:sp>
      <p:sp>
        <p:nvSpPr>
          <p:cNvPr id="8" name="Text 6"/>
          <p:cNvSpPr txBox="1"/>
          <p:nvPr/>
        </p:nvSpPr>
        <p:spPr>
          <a:xfrm>
            <a:off x="342900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hand-marked Drosophila nuclei in the top 100 detections: fitted blobs vs raw image</a:t>
            </a:r>
            <a:endParaRPr lang="en-US" sz="1500" dirty="0"/>
          </a:p>
        </p:txBody>
      </p:sp>
      <p:sp>
        <p:nvSpPr>
          <p:cNvPr id="9" name="check-2"/>
          <p:cNvSpPr/>
          <p:nvPr/>
        </p:nvSpPr>
        <p:spPr>
          <a:xfrm>
            <a:off x="6035040" y="114300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 4%</a:t>
            </a:r>
            <a:endParaRPr lang="en-US" sz="3200" dirty="0"/>
          </a:p>
        </p:txBody>
      </p:sp>
      <p:sp>
        <p:nvSpPr>
          <p:cNvPr id="11" name="Text 9"/>
          <p:cNvSpPr txBox="1"/>
          <p:nvPr/>
        </p:nvSpPr>
        <p:spPr>
          <a:xfrm>
            <a:off x="6217920" y="2148840"/>
            <a:ext cx="2240280" cy="1234440"/>
          </a:xfrm>
          <a:prstGeom prst="rect">
            <a:avLst/>
          </a:prstGeom>
          <a:noFill/>
          <a:ln/>
        </p:spPr>
        <p:txBody>
          <a:bodyPr wrap="square" lIns="0" tIns="0" rIns="0" bIns="0" rtlCol="0" anchor="t"/>
          <a:lstStyle/>
          <a:p>
            <a:pPr indent="0" marL="0">
              <a:buNone/>
            </a:pPr>
            <a:r>
              <a:rPr lang="en-US" sz="1500" dirty="0">
                <a:solidFill>
                  <a:schemeClr val="tx2"/>
                </a:solidFill>
              </a:rPr>
              <a:t>difference in nuclei found between three repeated fits</a:t>
            </a:r>
            <a:endParaRPr lang="en-US" sz="1500" dirty="0"/>
          </a:p>
        </p:txBody>
      </p:sp>
      <p:sp>
        <p:nvSpPr>
          <p:cNvPr id="12" name="Text 10"/>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500" dirty="0">
                <a:solidFill>
                  <a:schemeClr val="tx2"/>
                </a:solidFill>
              </a:rPr>
              <a:t>Limit: with all 457 of its candidates the raw-image detector finds 26 of 29, more than any fit.</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Against the state of the art, at the same file size</a:t>
            </a:r>
            <a:endParaRPr lang="en-US" sz="2800" dirty="0"/>
          </a:p>
        </p:txBody>
      </p:sp>
      <p:sp>
        <p:nvSpPr>
          <p:cNvPr id="3" name="Text 1"/>
          <p:cNvSpPr txBox="1"/>
          <p:nvPr/>
        </p:nvSpPr>
        <p:spPr>
          <a:xfrm>
            <a:off x="457200"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Original</a:t>
            </a:r>
            <a:endParaRPr lang="en-US" sz="1400" dirty="0"/>
          </a:p>
        </p:txBody>
      </p:sp>
      <p:pic>
        <p:nvPicPr>
          <p:cNvPr id="4" name="four-raw" descr="D:\masters\MLCV seminar\TeamProject\presentation\figs\four_raw.png">    </p:cNvPr>
          <p:cNvPicPr>
            <a:picLocks noChangeAspect="1"/>
          </p:cNvPicPr>
          <p:nvPr/>
        </p:nvPicPr>
        <p:blipFill>
          <a:blip r:embed="rId1"/>
          <a:stretch>
            <a:fillRect/>
          </a:stretch>
        </p:blipFill>
        <p:spPr>
          <a:xfrm>
            <a:off x="457200" y="1325880"/>
            <a:ext cx="2011680" cy="1536192"/>
          </a:xfrm>
          <a:prstGeom prst="rect">
            <a:avLst/>
          </a:prstGeom>
        </p:spPr>
      </p:pic>
      <p:sp>
        <p:nvSpPr>
          <p:cNvPr id="5" name="Text 2"/>
          <p:cNvSpPr txBox="1"/>
          <p:nvPr/>
        </p:nvSpPr>
        <p:spPr>
          <a:xfrm>
            <a:off x="2532888"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JPEG-XL 82×</a:t>
            </a:r>
            <a:endParaRPr lang="en-US" sz="1400" dirty="0"/>
          </a:p>
        </p:txBody>
      </p:sp>
      <p:pic>
        <p:nvPicPr>
          <p:cNvPr id="6" name="four-jpegxl" descr="D:\masters\MLCV seminar\TeamProject\presentation\figs\four_jpegxl.png">    </p:cNvPr>
          <p:cNvPicPr>
            <a:picLocks noChangeAspect="1"/>
          </p:cNvPicPr>
          <p:nvPr/>
        </p:nvPicPr>
        <p:blipFill>
          <a:blip r:embed="rId2"/>
          <a:stretch>
            <a:fillRect/>
          </a:stretch>
        </p:blipFill>
        <p:spPr>
          <a:xfrm>
            <a:off x="2532888" y="1325880"/>
            <a:ext cx="2011680" cy="1536192"/>
          </a:xfrm>
          <a:prstGeom prst="rect">
            <a:avLst/>
          </a:prstGeom>
        </p:spPr>
      </p:pic>
      <p:sp>
        <p:nvSpPr>
          <p:cNvPr id="7" name="Text 3"/>
          <p:cNvSpPr txBox="1"/>
          <p:nvPr/>
        </p:nvSpPr>
        <p:spPr>
          <a:xfrm>
            <a:off x="2532888"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100% of nuclei kept</a:t>
            </a:r>
            <a:endParaRPr lang="en-US" sz="1200" dirty="0"/>
          </a:p>
        </p:txBody>
      </p:sp>
      <p:sp>
        <p:nvSpPr>
          <p:cNvPr id="8" name="Text 4"/>
          <p:cNvSpPr txBox="1"/>
          <p:nvPr/>
        </p:nvSpPr>
        <p:spPr>
          <a:xfrm>
            <a:off x="4608576"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JPEG2000 89×</a:t>
            </a:r>
            <a:endParaRPr lang="en-US" sz="1400" dirty="0"/>
          </a:p>
        </p:txBody>
      </p:sp>
      <p:pic>
        <p:nvPicPr>
          <p:cNvPr id="9" name="four-jpeg2k" descr="D:\masters\MLCV seminar\TeamProject\presentation\figs\four_jpeg2k.png">    </p:cNvPr>
          <p:cNvPicPr>
            <a:picLocks noChangeAspect="1"/>
          </p:cNvPicPr>
          <p:nvPr/>
        </p:nvPicPr>
        <p:blipFill>
          <a:blip r:embed="rId3"/>
          <a:stretch>
            <a:fillRect/>
          </a:stretch>
        </p:blipFill>
        <p:spPr>
          <a:xfrm>
            <a:off x="4608576" y="1325880"/>
            <a:ext cx="2011680" cy="1536192"/>
          </a:xfrm>
          <a:prstGeom prst="rect">
            <a:avLst/>
          </a:prstGeom>
        </p:spPr>
      </p:pic>
      <p:sp>
        <p:nvSpPr>
          <p:cNvPr id="10" name="Text 5"/>
          <p:cNvSpPr txBox="1"/>
          <p:nvPr/>
        </p:nvSpPr>
        <p:spPr>
          <a:xfrm>
            <a:off x="4608576"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97% of nuclei kept</a:t>
            </a:r>
            <a:endParaRPr lang="en-US" sz="1200" dirty="0"/>
          </a:p>
        </p:txBody>
      </p:sp>
      <p:sp>
        <p:nvSpPr>
          <p:cNvPr id="11" name="Text 6"/>
          <p:cNvSpPr txBox="1"/>
          <p:nvPr/>
        </p:nvSpPr>
        <p:spPr>
          <a:xfrm>
            <a:off x="6684264"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Luxar 89×</a:t>
            </a:r>
            <a:endParaRPr lang="en-US" sz="1400" dirty="0"/>
          </a:p>
        </p:txBody>
      </p:sp>
      <p:pic>
        <p:nvPicPr>
          <p:cNvPr id="12" name="four-luxar" descr="D:\masters\MLCV seminar\TeamProject\presentation\figs\four_luxar.png">    </p:cNvPr>
          <p:cNvPicPr>
            <a:picLocks noChangeAspect="1"/>
          </p:cNvPicPr>
          <p:nvPr/>
        </p:nvPicPr>
        <p:blipFill>
          <a:blip r:embed="rId4"/>
          <a:stretch>
            <a:fillRect/>
          </a:stretch>
        </p:blipFill>
        <p:spPr>
          <a:xfrm>
            <a:off x="6684264" y="1325880"/>
            <a:ext cx="2011680" cy="1536192"/>
          </a:xfrm>
          <a:prstGeom prst="rect">
            <a:avLst/>
          </a:prstGeom>
        </p:spPr>
      </p:pic>
      <p:sp>
        <p:nvSpPr>
          <p:cNvPr id="13" name="Text 7"/>
          <p:cNvSpPr txBox="1"/>
          <p:nvPr/>
        </p:nvSpPr>
        <p:spPr>
          <a:xfrm>
            <a:off x="6684264" y="2880360"/>
            <a:ext cx="2011680" cy="256032"/>
          </a:xfrm>
          <a:prstGeom prst="rect">
            <a:avLst/>
          </a:prstGeom>
          <a:noFill/>
          <a:ln/>
        </p:spPr>
        <p:txBody>
          <a:bodyPr wrap="square" lIns="0" tIns="0" rIns="0" bIns="0" rtlCol="0" anchor="t"/>
          <a:lstStyle/>
          <a:p>
            <a:pPr algn="ctr" indent="0" marL="0">
              <a:buNone/>
            </a:pPr>
            <a:r>
              <a:rPr lang="en-US" sz="1200" dirty="0">
                <a:solidFill>
                  <a:schemeClr val="accent5"/>
                </a:solidFill>
              </a:rPr>
              <a:t>88% of nuclei kept</a:t>
            </a:r>
            <a:endParaRPr lang="en-US" sz="1200" dirty="0"/>
          </a:p>
        </p:txBody>
      </p:sp>
      <p:sp>
        <p:nvSpPr>
          <p:cNvPr id="14" name="Text 8"/>
          <p:cNvSpPr txBox="1"/>
          <p:nvPr/>
        </p:nvSpPr>
        <p:spPr>
          <a:xfrm>
            <a:off x="45720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Luxar (2026)</a:t>
            </a:r>
            <a:endParaRPr lang="en-US" sz="1500" dirty="0"/>
          </a:p>
          <a:p>
            <a:pPr indent="0" marL="0">
              <a:buNone/>
            </a:pPr>
            <a:r>
              <a:rPr lang="en-US" sz="1500" dirty="0">
                <a:solidFill>
                  <a:schemeClr val="tx1"/>
                </a:solidFill>
              </a:rPr>
              <a:t>state-of-the-art Gaussian-blob tool for microscopy</a:t>
            </a:r>
            <a:endParaRPr lang="en-US" sz="1500" dirty="0"/>
          </a:p>
        </p:txBody>
      </p:sp>
      <p:sp>
        <p:nvSpPr>
          <p:cNvPr id="15" name="Text 9"/>
          <p:cNvSpPr txBox="1"/>
          <p:nvPr/>
        </p:nvSpPr>
        <p:spPr>
          <a:xfrm>
            <a:off x="324612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JPEG2000</a:t>
            </a:r>
            <a:endParaRPr lang="en-US" sz="1500" dirty="0"/>
          </a:p>
          <a:p>
            <a:pPr indent="0" marL="0">
              <a:buNone/>
            </a:pPr>
            <a:r>
              <a:rPr lang="en-US" sz="1500" dirty="0">
                <a:solidFill>
                  <a:schemeClr val="tx1"/>
                </a:solidFill>
              </a:rPr>
              <a:t>standard image compression, set to exactly the same file size</a:t>
            </a:r>
            <a:endParaRPr lang="en-US" sz="1500" dirty="0"/>
          </a:p>
        </p:txBody>
      </p:sp>
      <p:sp>
        <p:nvSpPr>
          <p:cNvPr id="16" name="Text 10"/>
          <p:cNvSpPr txBox="1"/>
          <p:nvPr/>
        </p:nvSpPr>
        <p:spPr>
          <a:xfrm>
            <a:off x="6035040" y="329184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Test</a:t>
            </a:r>
            <a:endParaRPr lang="en-US" sz="1500" dirty="0"/>
          </a:p>
          <a:p>
            <a:pPr indent="0" marL="0">
              <a:buNone/>
            </a:pPr>
            <a:r>
              <a:rPr lang="en-US" sz="1500" dirty="0">
                <a:solidFill>
                  <a:schemeClr val="tx1"/>
                </a:solidFill>
              </a:rPr>
              <a:t>12 C. elegans frames, 2,958 hand-marked nuclei, 4 nucleus detectors</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Same file size: the winner depends on the detector</a:t>
            </a:r>
            <a:endParaRPr lang="en-US" sz="2800" dirty="0"/>
          </a:p>
        </p:txBody>
      </p:sp>
      <p:graphicFrame>
        <p:nvGraphicFramePr>
          <p:cNvPr id="3" name="Chart 0" descr=""/>
          <p:cNvGraphicFramePr/>
          <p:nvPr/>
        </p:nvGraphicFramePr>
        <p:xfrm>
          <a:off x="457200" y="105156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psnr-card"/>
          <p:cNvSpPr/>
          <p:nvPr/>
        </p:nvSpPr>
        <p:spPr>
          <a:xfrm>
            <a:off x="5806440" y="1143000"/>
            <a:ext cx="2880360" cy="1417320"/>
          </a:xfrm>
          <a:prstGeom prst="roundRect">
            <a:avLst>
              <a:gd name="adj" fmla="val 5161"/>
            </a:avLst>
          </a:prstGeom>
          <a:solidFill>
            <a:schemeClr val="bg2"/>
          </a:solidFill>
          <a:ln w="12700">
            <a:solidFill>
              <a:schemeClr val="bg2"/>
            </a:solidFill>
            <a:prstDash val="solid"/>
          </a:ln>
        </p:spPr>
      </p:sp>
      <p:sp>
        <p:nvSpPr>
          <p:cNvPr id="5" name="Text 2"/>
          <p:cNvSpPr txBox="1"/>
          <p:nvPr/>
        </p:nvSpPr>
        <p:spPr>
          <a:xfrm>
            <a:off x="5989320" y="1298448"/>
            <a:ext cx="2560320" cy="1097280"/>
          </a:xfrm>
          <a:prstGeom prst="rect">
            <a:avLst/>
          </a:prstGeom>
          <a:noFill/>
          <a:ln/>
        </p:spPr>
        <p:txBody>
          <a:bodyPr wrap="square" lIns="0" tIns="0" rIns="0" bIns="0" rtlCol="0" anchor="t"/>
          <a:lstStyle/>
          <a:p>
            <a:pPr indent="0" marL="0">
              <a:buNone/>
            </a:pPr>
            <a:r>
              <a:rPr lang="en-US" sz="1800" b="1" dirty="0">
                <a:solidFill>
                  <a:schemeClr val="tx1"/>
                </a:solidFill>
              </a:rPr>
              <a:t>PSNR: JPEG2000 better</a:t>
            </a:r>
            <a:endParaRPr lang="en-US" sz="1800" dirty="0"/>
          </a:p>
          <a:p>
            <a:pPr indent="0" marL="0">
              <a:buNone/>
            </a:pPr>
            <a:r>
              <a:rPr lang="en-US" sz="1800" dirty="0">
                <a:solidFill>
                  <a:schemeClr val="tx1"/>
                </a:solidFill>
              </a:rPr>
              <a:t>on 12 of 12 frames</a:t>
            </a:r>
            <a:endParaRPr lang="en-US" sz="1800" dirty="0"/>
          </a:p>
        </p:txBody>
      </p:sp>
      <p:sp>
        <p:nvSpPr>
          <p:cNvPr id="6" name="detectors-card"/>
          <p:cNvSpPr/>
          <p:nvPr/>
        </p:nvSpPr>
        <p:spPr>
          <a:xfrm>
            <a:off x="5806440" y="2697480"/>
            <a:ext cx="2880360" cy="1783080"/>
          </a:xfrm>
          <a:prstGeom prst="roundRect">
            <a:avLst>
              <a:gd name="adj" fmla="val 4103"/>
            </a:avLst>
          </a:prstGeom>
          <a:solidFill>
            <a:schemeClr val="bg2"/>
          </a:solidFill>
          <a:ln w="12700">
            <a:solidFill>
              <a:schemeClr val="bg2"/>
            </a:solidFill>
            <a:prstDash val="solid"/>
          </a:ln>
        </p:spPr>
      </p:sp>
      <p:sp>
        <p:nvSpPr>
          <p:cNvPr id="7" name="Text 4"/>
          <p:cNvSpPr txBox="1"/>
          <p:nvPr/>
        </p:nvSpPr>
        <p:spPr>
          <a:xfrm>
            <a:off x="5989320" y="2834640"/>
            <a:ext cx="2560320" cy="1554480"/>
          </a:xfrm>
          <a:prstGeom prst="rect">
            <a:avLst/>
          </a:prstGeom>
          <a:noFill/>
          <a:ln/>
        </p:spPr>
        <p:txBody>
          <a:bodyPr wrap="square" lIns="0" tIns="0" rIns="0" bIns="0" rtlCol="0" anchor="t"/>
          <a:lstStyle/>
          <a:p>
            <a:pPr indent="0" marL="0">
              <a:buNone/>
            </a:pPr>
            <a:r>
              <a:rPr lang="en-US" sz="1500" b="1" dirty="0">
                <a:solidFill>
                  <a:schemeClr val="tx1"/>
                </a:solidFill>
              </a:rPr>
              <a:t>Detectors disagree</a:t>
            </a:r>
            <a:endParaRPr lang="en-US" sz="1500" dirty="0"/>
          </a:p>
          <a:p>
            <a:pPr indent="0" marL="0">
              <a:buNone/>
            </a:pPr>
            <a:r>
              <a:rPr lang="en-US" sz="1500" dirty="0">
                <a:solidFill>
                  <a:schemeClr val="tx1"/>
                </a:solidFill>
              </a:rPr>
              <a:t>Cellpose 3D prefers blobs; watershed and Cellpose 2D prefer JPEG2000; all prefer JPEG2000 past 300×</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Below ~3 blobs per nucleus, nuclei vanish</a:t>
            </a:r>
            <a:endParaRPr lang="en-US" sz="2800" dirty="0"/>
          </a:p>
        </p:txBody>
      </p:sp>
      <p:pic>
        <p:nvPicPr>
          <p:cNvPr id="3" name="cliff" descr="D:\masters\MLCV seminar\TeamProject\presentation\figs\cliff_deck.png">    </p:cNvPr>
          <p:cNvPicPr>
            <a:picLocks noChangeAspect="1"/>
          </p:cNvPicPr>
          <p:nvPr/>
        </p:nvPicPr>
        <p:blipFill>
          <a:blip r:embed="rId1"/>
          <a:stretch>
            <a:fillRect/>
          </a:stretch>
        </p:blipFill>
        <p:spPr>
          <a:xfrm>
            <a:off x="457200" y="1097280"/>
            <a:ext cx="5257800" cy="3108960"/>
          </a:xfrm>
          <a:prstGeom prst="rect">
            <a:avLst/>
          </a:prstGeom>
        </p:spPr>
      </p:pic>
      <p:sp>
        <p:nvSpPr>
          <p:cNvPr id="4" name="step-card-0"/>
          <p:cNvSpPr/>
          <p:nvPr/>
        </p:nvSpPr>
        <p:spPr>
          <a:xfrm>
            <a:off x="5897880" y="1051560"/>
            <a:ext cx="278892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062472" y="1143000"/>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WHAT WE SEE</a:t>
            </a:r>
            <a:endParaRPr lang="en-US" sz="1200" dirty="0"/>
          </a:p>
        </p:txBody>
      </p:sp>
      <p:sp>
        <p:nvSpPr>
          <p:cNvPr id="6" name="Text 3"/>
          <p:cNvSpPr txBox="1"/>
          <p:nvPr/>
        </p:nvSpPr>
        <p:spPr>
          <a:xfrm>
            <a:off x="6062472" y="1399032"/>
            <a:ext cx="2459736" cy="722376"/>
          </a:xfrm>
          <a:prstGeom prst="rect">
            <a:avLst/>
          </a:prstGeom>
          <a:noFill/>
          <a:ln/>
        </p:spPr>
        <p:txBody>
          <a:bodyPr wrap="square" lIns="0" tIns="0" rIns="0" bIns="0" rtlCol="0" anchor="t"/>
          <a:lstStyle/>
          <a:p>
            <a:pPr indent="0" marL="0">
              <a:buNone/>
            </a:pPr>
            <a:r>
              <a:rPr lang="en-US" sz="1400" dirty="0">
                <a:solidFill>
                  <a:schemeClr val="tx1"/>
                </a:solidFill>
              </a:rPr>
              <a:t>Nuclei kept drops below 90% at 1.1-3.1 blobs per nucleus, on all 12 frames</a:t>
            </a:r>
            <a:endParaRPr lang="en-US" sz="1400" dirty="0"/>
          </a:p>
        </p:txBody>
      </p:sp>
      <p:sp>
        <p:nvSpPr>
          <p:cNvPr id="7" name="step-card-1"/>
          <p:cNvSpPr/>
          <p:nvPr/>
        </p:nvSpPr>
        <p:spPr>
          <a:xfrm>
            <a:off x="5897880" y="2258568"/>
            <a:ext cx="278892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6062472" y="2350008"/>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PSNR</a:t>
            </a:r>
            <a:endParaRPr lang="en-US" sz="1200" dirty="0"/>
          </a:p>
        </p:txBody>
      </p:sp>
      <p:sp>
        <p:nvSpPr>
          <p:cNvPr id="9" name="Text 6"/>
          <p:cNvSpPr txBox="1"/>
          <p:nvPr/>
        </p:nvSpPr>
        <p:spPr>
          <a:xfrm>
            <a:off x="6062472" y="2606040"/>
            <a:ext cx="2459736" cy="722376"/>
          </a:xfrm>
          <a:prstGeom prst="rect">
            <a:avLst/>
          </a:prstGeom>
          <a:noFill/>
          <a:ln/>
        </p:spPr>
        <p:txBody>
          <a:bodyPr wrap="square" lIns="0" tIns="0" rIns="0" bIns="0" rtlCol="0" anchor="t"/>
          <a:lstStyle/>
          <a:p>
            <a:pPr indent="0" marL="0">
              <a:buNone/>
            </a:pPr>
            <a:r>
              <a:rPr lang="en-US" sz="1400" dirty="0">
                <a:solidFill>
                  <a:schemeClr val="tx1"/>
                </a:solidFill>
              </a:rPr>
              <a:t>Barely moves over these budgets: at most 2.6 dB per frame</a:t>
            </a:r>
            <a:endParaRPr lang="en-US" sz="1400" dirty="0"/>
          </a:p>
        </p:txBody>
      </p:sp>
      <p:sp>
        <p:nvSpPr>
          <p:cNvPr id="10" name="step-card-2"/>
          <p:cNvSpPr/>
          <p:nvPr/>
        </p:nvSpPr>
        <p:spPr>
          <a:xfrm>
            <a:off x="5897880" y="3465576"/>
            <a:ext cx="278892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6062472" y="3557016"/>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SO</a:t>
            </a:r>
            <a:endParaRPr lang="en-US" sz="1200" dirty="0"/>
          </a:p>
        </p:txBody>
      </p:sp>
      <p:sp>
        <p:nvSpPr>
          <p:cNvPr id="12" name="Text 9"/>
          <p:cNvSpPr txBox="1"/>
          <p:nvPr/>
        </p:nvSpPr>
        <p:spPr>
          <a:xfrm>
            <a:off x="6062472" y="3813048"/>
            <a:ext cx="2459736" cy="722376"/>
          </a:xfrm>
          <a:prstGeom prst="rect">
            <a:avLst/>
          </a:prstGeom>
          <a:noFill/>
          <a:ln/>
        </p:spPr>
        <p:txBody>
          <a:bodyPr wrap="square" lIns="0" tIns="0" rIns="0" bIns="0" rtlCol="0" anchor="t"/>
          <a:lstStyle/>
          <a:p>
            <a:pPr indent="0" marL="0">
              <a:buNone/>
            </a:pPr>
            <a:r>
              <a:rPr lang="en-US" sz="1400" dirty="0">
                <a:solidFill>
                  <a:schemeClr val="tx1"/>
                </a:solidFill>
              </a:rPr>
              <a:t>Image quality cannot tell you when the blob budget is too small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lIns="0" tIns="0" rIns="0" bIns="0" rtlCol="0" anchor="ctr"/>
          <a:lstStyle/>
          <a:p>
            <a:pPr algn="l" indent="0" marL="0">
              <a:buNone/>
            </a:pPr>
            <a:r>
              <a:rPr lang="en-US" sz="3200" b="1" dirty="0">
                <a:solidFill>
                  <a:schemeClr val="bg1"/>
                </a:solidFill>
              </a:rPr>
              <a:t>What we learned</a:t>
            </a: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lIns="0" tIns="0" rIns="0" bIns="0" rtlCol="0" anchor="t"/>
          <a:lstStyle/>
          <a:p>
            <a:pPr algn="l" marL="342900" indent="-342900">
              <a:spcAft>
                <a:spcPts val="1400"/>
              </a:spcAft>
              <a:buSzPct val="100000"/>
              <a:buChar char="•"/>
            </a:pPr>
            <a:r>
              <a:rPr lang="en-US" sz="1700" dirty="0">
                <a:solidFill>
                  <a:srgbClr val="E5E7EB"/>
                </a:solidFill>
              </a:rPr>
              <a:t>Shape, starting points, step size and a size cap each made the fit find more nuclei.</a:t>
            </a:r>
            <a:endParaRPr lang="en-US" sz="1700" dirty="0"/>
          </a:p>
          <a:p>
            <a:pPr algn="l" marL="342900" indent="-342900">
              <a:spcAft>
                <a:spcPts val="1400"/>
              </a:spcAft>
              <a:buSzPct val="100000"/>
              <a:buChar char="•"/>
            </a:pPr>
            <a:r>
              <a:rPr lang="en-US" sz="1700" dirty="0">
                <a:solidFill>
                  <a:srgbClr val="E5E7EB"/>
                </a:solidFill>
              </a:rPr>
              <a:t>Blobs are good for looking, not for measuring: at the same file size a standard codec keeps nuclei as well or better.</a:t>
            </a:r>
            <a:endParaRPr lang="en-US" sz="1700" dirty="0"/>
          </a:p>
          <a:p>
            <a:pPr algn="l" marL="342900" indent="-342900">
              <a:spcAft>
                <a:spcPts val="1400"/>
              </a:spcAft>
              <a:buSzPct val="100000"/>
              <a:buChar char="•"/>
            </a:pPr>
            <a:r>
              <a:rPr lang="en-US" sz="1700" dirty="0">
                <a:solidFill>
                  <a:srgbClr val="E5E7EB"/>
                </a:solidFill>
              </a:rPr>
              <a:t>PSNR cannot choose the format: test with the analysis you will actually run.</a:t>
            </a:r>
            <a:endParaRPr lang="en-US" sz="1700" dirty="0"/>
          </a:p>
        </p:txBody>
      </p:sp>
      <p:pic>
        <p:nvPicPr>
          <p:cNvPr id="4" name="end-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Next: compression that biologists can use</a:t>
            </a:r>
            <a:endParaRPr lang="en-US" sz="2800" dirty="0"/>
          </a:p>
        </p:txBody>
      </p:sp>
      <p:sp>
        <p:nvSpPr>
          <p:cNvPr id="3" name="num-0"/>
          <p:cNvSpPr/>
          <p:nvPr/>
        </p:nvSpPr>
        <p:spPr>
          <a:xfrm>
            <a:off x="457200" y="1188720"/>
            <a:ext cx="548640" cy="548640"/>
          </a:xfrm>
          <a:prstGeom prst="ellipse">
            <a:avLst/>
          </a:prstGeom>
          <a:solidFill>
            <a:schemeClr val="accent1"/>
          </a:solidFill>
          <a:ln w="12700">
            <a:solidFill>
              <a:schemeClr val="accent1"/>
            </a:solidFill>
            <a:prstDash val="solid"/>
          </a:ln>
        </p:spPr>
      </p:sp>
      <p:sp>
        <p:nvSpPr>
          <p:cNvPr id="4" name="Text 2"/>
          <p:cNvSpPr txBox="1"/>
          <p:nvPr/>
        </p:nvSpPr>
        <p:spPr>
          <a:xfrm>
            <a:off x="457200" y="11887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234440" y="1143000"/>
            <a:ext cx="7406640" cy="914400"/>
          </a:xfrm>
          <a:prstGeom prst="rect">
            <a:avLst/>
          </a:prstGeom>
          <a:noFill/>
          <a:ln/>
        </p:spPr>
        <p:txBody>
          <a:bodyPr wrap="square" lIns="0" tIns="0" rIns="0" bIns="0" rtlCol="0" anchor="t"/>
          <a:lstStyle/>
          <a:p>
            <a:pPr indent="0" marL="0">
              <a:buNone/>
            </a:pPr>
            <a:r>
              <a:rPr lang="en-US" sz="1700" b="1" dirty="0">
                <a:solidFill>
                  <a:schemeClr val="tx1"/>
                </a:solidFill>
              </a:rPr>
              <a:t>Lossless and near-lossless</a:t>
            </a:r>
            <a:endParaRPr lang="en-US" sz="1700" dirty="0"/>
          </a:p>
          <a:p>
            <a:pPr indent="0" marL="0">
              <a:buNone/>
            </a:pPr>
            <a:r>
              <a:rPr lang="en-US" sz="1700" dirty="0">
                <a:solidFill>
                  <a:srgbClr val="3A3F4B"/>
                </a:solidFill>
              </a:rPr>
              <a:t>what labs actually store: exact, or errors kept below the camera noise</a:t>
            </a:r>
            <a:endParaRPr lang="en-US" sz="1700" dirty="0"/>
          </a:p>
        </p:txBody>
      </p:sp>
      <p:sp>
        <p:nvSpPr>
          <p:cNvPr id="6" name="num-1"/>
          <p:cNvSpPr/>
          <p:nvPr/>
        </p:nvSpPr>
        <p:spPr>
          <a:xfrm>
            <a:off x="457200" y="228600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457200" y="22860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Text 6"/>
          <p:cNvSpPr txBox="1"/>
          <p:nvPr/>
        </p:nvSpPr>
        <p:spPr>
          <a:xfrm>
            <a:off x="1234440" y="2240280"/>
            <a:ext cx="7406640" cy="914400"/>
          </a:xfrm>
          <a:prstGeom prst="rect">
            <a:avLst/>
          </a:prstGeom>
          <a:noFill/>
          <a:ln/>
        </p:spPr>
        <p:txBody>
          <a:bodyPr wrap="square" lIns="0" tIns="0" rIns="0" bIns="0" rtlCol="0" anchor="t"/>
          <a:lstStyle/>
          <a:p>
            <a:pPr indent="0" marL="0">
              <a:buNone/>
            </a:pPr>
            <a:r>
              <a:rPr lang="en-US" sz="1700" b="1" dirty="0">
                <a:solidFill>
                  <a:schemeClr val="tx1"/>
                </a:solidFill>
              </a:rPr>
              <a:t>Video codecs</a:t>
            </a:r>
            <a:endParaRPr lang="en-US" sz="1700" dirty="0"/>
          </a:p>
          <a:p>
            <a:pPr indent="0" marL="0">
              <a:buNone/>
            </a:pPr>
            <a:r>
              <a:rPr lang="en-US" sz="1700" dirty="0">
                <a:solidFill>
                  <a:srgbClr val="3A3F4B"/>
                </a:solidFill>
              </a:rPr>
              <a:t>use the similarity between neighbouring slices and time points</a:t>
            </a:r>
            <a:endParaRPr lang="en-US" sz="1700" dirty="0"/>
          </a:p>
        </p:txBody>
      </p:sp>
      <p:sp>
        <p:nvSpPr>
          <p:cNvPr id="9" name="num-2"/>
          <p:cNvSpPr/>
          <p:nvPr/>
        </p:nvSpPr>
        <p:spPr>
          <a:xfrm>
            <a:off x="457200" y="338328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457200" y="33832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Text 9"/>
          <p:cNvSpPr txBox="1"/>
          <p:nvPr/>
        </p:nvSpPr>
        <p:spPr>
          <a:xfrm>
            <a:off x="1234440" y="3337560"/>
            <a:ext cx="7406640" cy="914400"/>
          </a:xfrm>
          <a:prstGeom prst="rect">
            <a:avLst/>
          </a:prstGeom>
          <a:noFill/>
          <a:ln/>
        </p:spPr>
        <p:txBody>
          <a:bodyPr wrap="square" lIns="0" tIns="0" rIns="0" bIns="0" rtlCol="0" anchor="t"/>
          <a:lstStyle/>
          <a:p>
            <a:pPr indent="0" marL="0">
              <a:buNone/>
            </a:pPr>
            <a:r>
              <a:rPr lang="en-US" sz="1700" b="1" dirty="0">
                <a:solidFill>
                  <a:schemeClr val="tx1"/>
                </a:solidFill>
              </a:rPr>
              <a:t>Judge by tracking</a:t>
            </a:r>
            <a:endParaRPr lang="en-US" sz="1700" dirty="0"/>
          </a:p>
          <a:p>
            <a:pPr indent="0" marL="0">
              <a:buNone/>
            </a:pPr>
            <a:r>
              <a:rPr lang="en-US" sz="1700" dirty="0">
                <a:solidFill>
                  <a:srgbClr val="3A3F4B"/>
                </a:solidFill>
              </a:rPr>
              <a:t>measure with the Cell Tracking Challenge scores, not image quality</a:t>
            </a:r>
            <a:endParaRPr lang="en-US" sz="17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Fluorescence">
  <a:themeElements>
    <a:clrScheme name="Fluorescence">
      <a:dk1>
        <a:srgbClr val="15171C"/>
      </a:dk1>
      <a:lt1>
        <a:srgbClr val="FFFFFF"/>
      </a:lt1>
      <a:dk2>
        <a:srgbClr val="3A3F4B"/>
      </a:dk2>
      <a:lt2>
        <a:srgbClr val="F1F3F6"/>
      </a:lt2>
      <a:accent1>
        <a:srgbClr val="E8730C"/>
      </a:accent1>
      <a:accent2>
        <a:srgbClr val="2A78D6"/>
      </a:accent2>
      <a:accent3>
        <a:srgbClr val="1BAF7A"/>
      </a:accent3>
      <a:accent4>
        <a:srgbClr val="D64545"/>
      </a:accent4>
      <a:accent5>
        <a:srgbClr val="6B7280"/>
      </a:accent5>
      <a:accent6>
        <a:srgbClr val="F2B134"/>
      </a:accent6>
      <a:hlink>
        <a:srgbClr val="2A78D6"/>
      </a:hlink>
      <a:folHlink>
        <a:srgbClr val="6B7280"/>
      </a:folHlink>
    </a:clrScheme>
    <a:fontScheme name="Fluoresc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Gaussian blobs for 3D microscopy</dc:title>
  <dc:subject>PptxGenJS Presentation</dc:subject>
  <dc:creator>Syed Muhammad Asad</dc:creator>
  <cp:lastModifiedBy>Syed Muhammad Asad</cp:lastModifiedBy>
  <cp:revision>1</cp:revision>
  <dcterms:created xsi:type="dcterms:W3CDTF">2026-10-08T21:44:30Z</dcterms:created>
  <dcterms:modified xsi:type="dcterms:W3CDTF">2026-10-08T21:44:30Z</dcterms:modified>
</cp:coreProperties>
</file>