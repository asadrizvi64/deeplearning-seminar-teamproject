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7" r:id="rId18"/>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asked one question: can a few hundred 3D blobs describe real microscope images of embryos well enough to be useful? And we checked the answer honestly, including where it does not hold.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microscope volume is millions of brightness numbers. We replace it with a few hundred blobs; each blob has a position, a size, a shape and a brightness. The hope is one blob per nucleus, so one fit gives a small model and a list of nuclei at the same time. We treated that as a hypothesis, not a given: a detector already places the starting blobs and scores the result, so the list of nuclei is not free.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builds on my teammate's archive of 399 fits. Their main findings: freely stretched and rotated blobs work best; spreading the starting points apart was the biggest single improvement; and the best image quality they saw was 25.93 dB. Two things we found later. First, that spacing was measured in voxels, and on data whose voxels are five times longer in depth it stops working. Second, the regularizer they dropped is a different thing from our size cap, so I do not claim one grew out of the other.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steps. Two came from my teammate, two from us, one is shared, and each was tested on its own. The learning rate: raising it lets badly placed blobs move to a nucleus, but when the starting points are already good it makes things worse. The size cap helped faint nuclei on Tribolium; on the Drosophila data it hardly touched any blob. Steps 3 and 4 together were tested once, on the next-to-last results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one real Tribolium crop. Left is the data, middle is our blobs, right is the error. Of the 24 nuclei a detector finds in the data, 20 are also found in the reconstruction. Important: those 24 come from a detector, not from a person, so this is agreement between two detectors. Smooth-looking reconstruction is a real limitation.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thing we changed: we limit how wide a nucleus blob may grow. We found that the nuclei we lose are the faint ones, and their blobs spread out until there is no peak left. On this crop the cap recovers one more nucleus, and that one sits at the edge, so on its own it is weak. Over four regions: 13 of 31 faint nuclei kept without the cap, 19 of 31 with it, and the image quality does not change. One region got worse. These numbers are after we fixed a scoring bug, which shrank the effect from +7 to +6 nuclei.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settings we used, and who found each one. Two notes: spacing must be set in microns for each dataset, and every row was measured on its own, not all together.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numbers, each with exactly what it was measured on. The first three come from one Tribolium crop, and the reference nuclei there come from a detector. 381 times fewer is a count of stored numbers, not a file size. The last number is the only one checked against nuclei that a person marked.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still fails. Ours: faint and edge nuclei, and the cap made one region worse. Shared: the reconstruction is too smooth, and 20 times more blobs does not fix it. Our tests are small. And once you allow about ten thousand numbers, plain downsampling is just as good on image quality, so the case has to rest on finding nuclei.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takeaways. What we saw: the size cap helps faint nuclei on Tribolium, and fitting ranks nuclei better on Drosophila. The yardstick matters: our fit with the best image quality found fewer nuclei in the top 100 than the default fit. What we have not shown: that this beats an ordinary detector. Gaussian nucleus models with size limits already exist, TGMM from the Keller lab in 2014, so our contribution is the careful testing and the unit fixes, not the idea.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one sentence: a working, honestly tested way to describe real nuclei with blobs, built on my teammate's archive. Next step: more human-labelled crops and more seeds before any claim of a better detector, with every setting in microns.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check against a person's labels: 29 nuclei in a fruit-fly embryo crop. Every fit starts from the same detector candidates, so the only thing that differs is the fitting. We compare at the same number of detections, for example the top 100. The fit finds 14, the raw image 10. Downsampling to similar storage finds only 11 even in the top 200. So fitting sorts real nuclei higher. Honestly though: if the raw detector may use all 457 of its candidates, it finds 26, more than any fit. So this is better ranking, not a better detector. The size cap does nothing here, a higher learning rate made it worse, and uniform sampling ranked worse in the top 100. This is mean of 3 seeds.</a:t>
            </a:r>
          </a:p>
          <a:p/>
          <a:p>
            <a:r>
              <a:t>If asked why we compare at the same number of detections: only some nuclei are labelled, so precision cannot be trusted, but at a fixed number of detections that bias is the same for every method, so the comparison is fair. If asked about noise: one nucleus is 3.4 percent, and we only call a difference real if it is about three nuclei and has the same sign in every seed.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20F"/>
        </a:solidFill>
      </p:bgPr>
    </p:bg>
    <p:spTree>
      <p:nvGrpSpPr>
        <p:cNvPr id="1" name=""/>
        <p:cNvGrpSpPr/>
        <p:nvPr/>
      </p:nvGrpSpPr>
      <p:grpSpPr>
        <a:xfrm>
          <a:off x="0" y="0"/>
          <a:ext cx="0" cy="0"/>
          <a:chOff x="0" y="0"/>
          <a:chExt cx="0" cy="0"/>
        </a:xfrm>
      </p:grpSpPr>
      <p:sp>
        <p:nvSpPr>
          <p:cNvPr id="2" name="Text 0"/>
          <p:cNvSpPr txBox="1"/>
          <p:nvPr/>
        </p:nvSpPr>
        <p:spPr>
          <a:xfrm>
            <a:off x="914400" y="2148840"/>
            <a:ext cx="10332720" cy="1920240"/>
          </a:xfrm>
          <a:prstGeom prst="rect">
            <a:avLst/>
          </a:prstGeom>
          <a:noFill/>
          <a:ln/>
        </p:spPr>
        <p:txBody>
          <a:bodyPr wrap="square" lIns="0" tIns="0" rIns="0" bIns="0" rtlCol="0" anchor="ctr"/>
          <a:lstStyle/>
          <a:p>
            <a:pPr algn="l" indent="0" marL="0">
              <a:lnSpc>
                <a:spcPct val="108000"/>
              </a:lnSpc>
              <a:buNone/>
            </a:pPr>
            <a:r>
              <a:rPr lang="en-US" sz="4200" b="1" dirty="0">
                <a:solidFill>
                  <a:srgbClr val="F5F1E8"/>
                </a:solidFill>
                <a:latin typeface="Cambria" pitchFamily="34" charset="0"/>
                <a:ea typeface="Cambria" pitchFamily="34" charset="-122"/>
                <a:cs typeface="Cambria" pitchFamily="34" charset="-120"/>
              </a:rPr>
              <a:t>Representing Tribolium Nuclei</a:t>
            </a:r>
            <a:endParaRPr lang="en-US" sz="4200" dirty="0"/>
          </a:p>
          <a:p>
            <a:pPr algn="l" indent="0" marL="0">
              <a:lnSpc>
                <a:spcPct val="108000"/>
              </a:lnSpc>
              <a:buNone/>
            </a:pPr>
            <a:r>
              <a:rPr lang="en-US" sz="4200" b="1" dirty="0">
                <a:solidFill>
                  <a:srgbClr val="F5F1E8"/>
                </a:solidFill>
                <a:latin typeface="Cambria" pitchFamily="34" charset="0"/>
                <a:ea typeface="Cambria" pitchFamily="34" charset="-122"/>
                <a:cs typeface="Cambria" pitchFamily="34" charset="-120"/>
              </a:rPr>
              <a:t>with 3D Gaussian Splatting</a:t>
            </a:r>
            <a:endParaRPr lang="en-US" sz="4200" dirty="0"/>
          </a:p>
        </p:txBody>
      </p:sp>
      <p:sp>
        <p:nvSpPr>
          <p:cNvPr id="3" name="Text 1"/>
          <p:cNvSpPr txBox="1"/>
          <p:nvPr/>
        </p:nvSpPr>
        <p:spPr>
          <a:xfrm>
            <a:off x="914400" y="3977640"/>
            <a:ext cx="9144000" cy="502920"/>
          </a:xfrm>
          <a:prstGeom prst="rect">
            <a:avLst/>
          </a:prstGeom>
          <a:noFill/>
          <a:ln/>
        </p:spPr>
        <p:txBody>
          <a:bodyPr wrap="square" lIns="0" tIns="0" rIns="0" bIns="0" rtlCol="0" anchor="ctr"/>
          <a:lstStyle/>
          <a:p>
            <a:pPr indent="0" marL="0">
              <a:buNone/>
            </a:pPr>
            <a:r>
              <a:rPr lang="en-US" sz="1800" dirty="0">
                <a:solidFill>
                  <a:srgbClr val="F2A65A"/>
                </a:solidFill>
                <a:latin typeface="Calibri" pitchFamily="34" charset="0"/>
                <a:ea typeface="Calibri" pitchFamily="34" charset="-122"/>
                <a:cs typeface="Calibri" pitchFamily="34" charset="-120"/>
              </a:rPr>
              <a:t>Real light-sheet microscopy data, fitted with compact anisotropic Gaussians</a:t>
            </a:r>
            <a:endParaRPr lang="en-US" sz="1800" dirty="0"/>
          </a:p>
        </p:txBody>
      </p:sp>
      <p:sp>
        <p:nvSpPr>
          <p:cNvPr id="4" name="Shape 2"/>
          <p:cNvSpPr/>
          <p:nvPr/>
        </p:nvSpPr>
        <p:spPr>
          <a:xfrm>
            <a:off x="9784080" y="502920"/>
            <a:ext cx="1188720" cy="1188720"/>
          </a:xfrm>
          <a:prstGeom prst="ellipse">
            <a:avLst/>
          </a:prstGeom>
          <a:solidFill>
            <a:srgbClr val="E8973F">
              <a:alpha val="18000"/>
            </a:srgbClr>
          </a:solidFill>
          <a:ln/>
        </p:spPr>
      </p:sp>
      <p:sp>
        <p:nvSpPr>
          <p:cNvPr id="5" name="Shape 3"/>
          <p:cNvSpPr/>
          <p:nvPr/>
        </p:nvSpPr>
        <p:spPr>
          <a:xfrm>
            <a:off x="10561320" y="1234440"/>
            <a:ext cx="777240" cy="777240"/>
          </a:xfrm>
          <a:prstGeom prst="ellipse">
            <a:avLst/>
          </a:prstGeom>
          <a:solidFill>
            <a:srgbClr val="E8973F">
              <a:alpha val="18000"/>
            </a:srgbClr>
          </a:solidFill>
          <a:ln/>
        </p:spPr>
      </p:sp>
      <p:sp>
        <p:nvSpPr>
          <p:cNvPr id="6" name="Shape 4"/>
          <p:cNvSpPr/>
          <p:nvPr/>
        </p:nvSpPr>
        <p:spPr>
          <a:xfrm>
            <a:off x="9326880" y="1600200"/>
            <a:ext cx="502920" cy="502920"/>
          </a:xfrm>
          <a:prstGeom prst="ellipse">
            <a:avLst/>
          </a:prstGeom>
          <a:solidFill>
            <a:srgbClr val="E8973F">
              <a:alpha val="18000"/>
            </a:srgbClr>
          </a:solidFill>
          <a:ln/>
        </p:spPr>
      </p:sp>
      <p:sp>
        <p:nvSpPr>
          <p:cNvPr id="7" name="Shape 5"/>
          <p:cNvSpPr/>
          <p:nvPr/>
        </p:nvSpPr>
        <p:spPr>
          <a:xfrm>
            <a:off x="10881360" y="320040"/>
            <a:ext cx="457200" cy="457200"/>
          </a:xfrm>
          <a:prstGeom prst="ellipse">
            <a:avLst/>
          </a:prstGeom>
          <a:solidFill>
            <a:srgbClr val="E8973F">
              <a:alpha val="18000"/>
            </a:srgbClr>
          </a:solidFill>
          <a:ln/>
        </p:spPr>
      </p:sp>
      <p:sp>
        <p:nvSpPr>
          <p:cNvPr id="8" name="Text 6"/>
          <p:cNvSpPr txBox="1"/>
          <p:nvPr/>
        </p:nvSpPr>
        <p:spPr>
          <a:xfrm>
            <a:off x="914400" y="5989320"/>
            <a:ext cx="7315200" cy="365760"/>
          </a:xfrm>
          <a:prstGeom prst="rect">
            <a:avLst/>
          </a:prstGeom>
          <a:noFill/>
          <a:ln/>
        </p:spPr>
        <p:txBody>
          <a:bodyPr wrap="square" lIns="0" tIns="0" rIns="0" bIns="0" rtlCol="0" anchor="ctr"/>
          <a:lstStyle/>
          <a:p>
            <a:pPr indent="0" marL="0">
              <a:buNone/>
            </a:pPr>
            <a:r>
              <a:rPr lang="en-US" sz="1200" dirty="0">
                <a:solidFill>
                  <a:srgbClr val="B8AFA2"/>
                </a:solidFill>
                <a:latin typeface="Calibri" pitchFamily="34" charset="0"/>
                <a:ea typeface="Calibri" pitchFamily="34" charset="-122"/>
                <a:cs typeface="Calibri" pitchFamily="34" charset="-120"/>
              </a:rPr>
              <a:t>MLCV Seminar · Team Project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731520"/>
          </a:xfrm>
          <a:prstGeom prst="rect">
            <a:avLst/>
          </a:prstGeom>
          <a:noFill/>
          <a:ln/>
        </p:spPr>
        <p:txBody>
          <a:bodyPr wrap="square" lIns="0" tIns="0" rIns="0" bIns="0" rtlCol="0" anchor="ctr"/>
          <a:lstStyle/>
          <a:p>
            <a:pPr indent="0" marL="0">
              <a:buNone/>
            </a:pPr>
            <a:r>
              <a:rPr lang="en-US" sz="3200" b="1" dirty="0">
                <a:solidFill>
                  <a:srgbClr val="1A1610"/>
                </a:solidFill>
                <a:latin typeface="Cambria" pitchFamily="34" charset="0"/>
                <a:ea typeface="Cambria" pitchFamily="34" charset="-122"/>
                <a:cs typeface="Cambria" pitchFamily="34" charset="-120"/>
              </a:rPr>
              <a:t>The Goal</a:t>
            </a:r>
            <a:endParaRPr lang="en-US" sz="3200" dirty="0"/>
          </a:p>
        </p:txBody>
      </p:sp>
      <p:sp>
        <p:nvSpPr>
          <p:cNvPr id="3" name="Text 1"/>
          <p:cNvSpPr txBox="1"/>
          <p:nvPr/>
        </p:nvSpPr>
        <p:spPr>
          <a:xfrm>
            <a:off x="640080" y="1600200"/>
            <a:ext cx="5394960" cy="4206240"/>
          </a:xfrm>
          <a:prstGeom prst="rect">
            <a:avLst/>
          </a:prstGeom>
          <a:noFill/>
          <a:ln/>
        </p:spPr>
        <p:txBody>
          <a:bodyPr wrap="square" lIns="0" tIns="0" rIns="0" bIns="0" rtlCol="0" anchor="t"/>
          <a:lstStyle/>
          <a:p>
            <a:pPr indent="0" marL="0">
              <a:lnSpc>
                <a:spcPct val="125000"/>
              </a:lnSpc>
              <a:buNone/>
            </a:pPr>
            <a:r>
              <a:rPr lang="en-US" sz="1800" dirty="0">
                <a:solidFill>
                  <a:srgbClr val="1A1610"/>
                </a:solidFill>
                <a:latin typeface="Calibri" pitchFamily="34" charset="0"/>
                <a:ea typeface="Calibri" pitchFamily="34" charset="-122"/>
                <a:cs typeface="Calibri" pitchFamily="34" charset="-120"/>
              </a:rPr>
              <a:t>Replace a microscopy volume — millions of voxels — with a compact set of 3D Gaussian blobs.
</a:t>
            </a:r>
            <a:endParaRPr lang="en-US" sz="1800" dirty="0"/>
          </a:p>
          <a:p>
            <a:pPr indent="0" marL="0">
              <a:lnSpc>
                <a:spcPct val="125000"/>
              </a:lnSpc>
              <a:buNone/>
            </a:pPr>
            <a:r>
              <a:rPr lang="en-US" sz="1800" dirty="0">
                <a:solidFill>
                  <a:srgbClr val="1A1610"/>
                </a:solidFill>
                <a:latin typeface="Calibri" pitchFamily="34" charset="0"/>
                <a:ea typeface="Calibri" pitchFamily="34" charset="-122"/>
                <a:cs typeface="Calibri" pitchFamily="34" charset="-120"/>
              </a:rPr>
              <a:t>Each Gaussian carries a position, a size, a shape, and a brightness.
</a:t>
            </a:r>
            <a:endParaRPr lang="en-US" sz="1800" dirty="0"/>
          </a:p>
          <a:p>
            <a:pPr indent="0" marL="0">
              <a:lnSpc>
                <a:spcPct val="125000"/>
              </a:lnSpc>
              <a:buNone/>
            </a:pPr>
            <a:r>
              <a:rPr lang="en-US" sz="1800" b="1" dirty="0">
                <a:solidFill>
                  <a:srgbClr val="E8973F"/>
                </a:solidFill>
                <a:latin typeface="Calibri" pitchFamily="34" charset="0"/>
                <a:ea typeface="Calibri" pitchFamily="34" charset="-122"/>
                <a:cs typeface="Calibri" pitchFamily="34" charset="-120"/>
              </a:rPr>
              <a:t>Hypothesis tested: if each Gaussian settles on one nucleus, one fit is both a compact model and a nucleus list. A detector already seeds and scores the fit, so this had to be tested, not assumed.</a:t>
            </a:r>
            <a:endParaRPr lang="en-US" sz="1800" dirty="0"/>
          </a:p>
        </p:txBody>
      </p:sp>
      <p:sp>
        <p:nvSpPr>
          <p:cNvPr id="4" name="Shape 2"/>
          <p:cNvSpPr/>
          <p:nvPr/>
        </p:nvSpPr>
        <p:spPr>
          <a:xfrm>
            <a:off x="6492240" y="1828800"/>
            <a:ext cx="310896" cy="310896"/>
          </a:xfrm>
          <a:prstGeom prst="rect">
            <a:avLst/>
          </a:prstGeom>
          <a:solidFill>
            <a:srgbClr val="EDEAE4"/>
          </a:solidFill>
          <a:ln w="9525">
            <a:solidFill>
              <a:srgbClr val="DDD6CB"/>
            </a:solidFill>
            <a:prstDash val="solid"/>
          </a:ln>
        </p:spPr>
      </p:sp>
      <p:sp>
        <p:nvSpPr>
          <p:cNvPr id="5" name="Shape 3"/>
          <p:cNvSpPr/>
          <p:nvPr/>
        </p:nvSpPr>
        <p:spPr>
          <a:xfrm>
            <a:off x="6858000" y="1828800"/>
            <a:ext cx="310896" cy="310896"/>
          </a:xfrm>
          <a:prstGeom prst="rect">
            <a:avLst/>
          </a:prstGeom>
          <a:solidFill>
            <a:srgbClr val="EDEAE4"/>
          </a:solidFill>
          <a:ln w="9525">
            <a:solidFill>
              <a:srgbClr val="DDD6CB"/>
            </a:solidFill>
            <a:prstDash val="solid"/>
          </a:ln>
        </p:spPr>
      </p:sp>
      <p:sp>
        <p:nvSpPr>
          <p:cNvPr id="6" name="Shape 4"/>
          <p:cNvSpPr/>
          <p:nvPr/>
        </p:nvSpPr>
        <p:spPr>
          <a:xfrm>
            <a:off x="7223760" y="1828800"/>
            <a:ext cx="310896" cy="310896"/>
          </a:xfrm>
          <a:prstGeom prst="rect">
            <a:avLst/>
          </a:prstGeom>
          <a:solidFill>
            <a:srgbClr val="EDEAE4"/>
          </a:solidFill>
          <a:ln w="9525">
            <a:solidFill>
              <a:srgbClr val="DDD6CB"/>
            </a:solidFill>
            <a:prstDash val="solid"/>
          </a:ln>
        </p:spPr>
      </p:sp>
      <p:sp>
        <p:nvSpPr>
          <p:cNvPr id="7" name="Shape 5"/>
          <p:cNvSpPr/>
          <p:nvPr/>
        </p:nvSpPr>
        <p:spPr>
          <a:xfrm>
            <a:off x="7589520" y="1828800"/>
            <a:ext cx="310896" cy="310896"/>
          </a:xfrm>
          <a:prstGeom prst="rect">
            <a:avLst/>
          </a:prstGeom>
          <a:solidFill>
            <a:srgbClr val="EDEAE4"/>
          </a:solidFill>
          <a:ln w="9525">
            <a:solidFill>
              <a:srgbClr val="DDD6CB"/>
            </a:solidFill>
            <a:prstDash val="solid"/>
          </a:ln>
        </p:spPr>
      </p:sp>
      <p:sp>
        <p:nvSpPr>
          <p:cNvPr id="8" name="Shape 6"/>
          <p:cNvSpPr/>
          <p:nvPr/>
        </p:nvSpPr>
        <p:spPr>
          <a:xfrm>
            <a:off x="7955280" y="1828800"/>
            <a:ext cx="310896" cy="310896"/>
          </a:xfrm>
          <a:prstGeom prst="rect">
            <a:avLst/>
          </a:prstGeom>
          <a:solidFill>
            <a:srgbClr val="EDEAE4"/>
          </a:solidFill>
          <a:ln w="9525">
            <a:solidFill>
              <a:srgbClr val="DDD6CB"/>
            </a:solidFill>
            <a:prstDash val="solid"/>
          </a:ln>
        </p:spPr>
      </p:sp>
      <p:sp>
        <p:nvSpPr>
          <p:cNvPr id="9" name="Shape 7"/>
          <p:cNvSpPr/>
          <p:nvPr/>
        </p:nvSpPr>
        <p:spPr>
          <a:xfrm>
            <a:off x="8321040" y="1828800"/>
            <a:ext cx="310896" cy="310896"/>
          </a:xfrm>
          <a:prstGeom prst="rect">
            <a:avLst/>
          </a:prstGeom>
          <a:solidFill>
            <a:srgbClr val="EDEAE4"/>
          </a:solidFill>
          <a:ln w="9525">
            <a:solidFill>
              <a:srgbClr val="DDD6CB"/>
            </a:solidFill>
            <a:prstDash val="solid"/>
          </a:ln>
        </p:spPr>
      </p:sp>
      <p:sp>
        <p:nvSpPr>
          <p:cNvPr id="10" name="Shape 8"/>
          <p:cNvSpPr/>
          <p:nvPr/>
        </p:nvSpPr>
        <p:spPr>
          <a:xfrm>
            <a:off x="6492240" y="2194560"/>
            <a:ext cx="310896" cy="310896"/>
          </a:xfrm>
          <a:prstGeom prst="rect">
            <a:avLst/>
          </a:prstGeom>
          <a:solidFill>
            <a:srgbClr val="EDEAE4"/>
          </a:solidFill>
          <a:ln w="9525">
            <a:solidFill>
              <a:srgbClr val="DDD6CB"/>
            </a:solidFill>
            <a:prstDash val="solid"/>
          </a:ln>
        </p:spPr>
      </p:sp>
      <p:sp>
        <p:nvSpPr>
          <p:cNvPr id="11" name="Shape 9"/>
          <p:cNvSpPr/>
          <p:nvPr/>
        </p:nvSpPr>
        <p:spPr>
          <a:xfrm>
            <a:off x="6858000" y="2194560"/>
            <a:ext cx="310896" cy="310896"/>
          </a:xfrm>
          <a:prstGeom prst="rect">
            <a:avLst/>
          </a:prstGeom>
          <a:solidFill>
            <a:srgbClr val="EDEAE4"/>
          </a:solidFill>
          <a:ln w="9525">
            <a:solidFill>
              <a:srgbClr val="DDD6CB"/>
            </a:solidFill>
            <a:prstDash val="solid"/>
          </a:ln>
        </p:spPr>
      </p:sp>
      <p:sp>
        <p:nvSpPr>
          <p:cNvPr id="12" name="Shape 10"/>
          <p:cNvSpPr/>
          <p:nvPr/>
        </p:nvSpPr>
        <p:spPr>
          <a:xfrm>
            <a:off x="7223760" y="2194560"/>
            <a:ext cx="310896" cy="310896"/>
          </a:xfrm>
          <a:prstGeom prst="rect">
            <a:avLst/>
          </a:prstGeom>
          <a:solidFill>
            <a:srgbClr val="EDEAE4"/>
          </a:solidFill>
          <a:ln w="9525">
            <a:solidFill>
              <a:srgbClr val="DDD6CB"/>
            </a:solidFill>
            <a:prstDash val="solid"/>
          </a:ln>
        </p:spPr>
      </p:sp>
      <p:sp>
        <p:nvSpPr>
          <p:cNvPr id="13" name="Shape 11"/>
          <p:cNvSpPr/>
          <p:nvPr/>
        </p:nvSpPr>
        <p:spPr>
          <a:xfrm>
            <a:off x="7589520" y="2194560"/>
            <a:ext cx="310896" cy="310896"/>
          </a:xfrm>
          <a:prstGeom prst="rect">
            <a:avLst/>
          </a:prstGeom>
          <a:solidFill>
            <a:srgbClr val="EDEAE4"/>
          </a:solidFill>
          <a:ln w="9525">
            <a:solidFill>
              <a:srgbClr val="DDD6CB"/>
            </a:solidFill>
            <a:prstDash val="solid"/>
          </a:ln>
        </p:spPr>
      </p:sp>
      <p:sp>
        <p:nvSpPr>
          <p:cNvPr id="14" name="Shape 12"/>
          <p:cNvSpPr/>
          <p:nvPr/>
        </p:nvSpPr>
        <p:spPr>
          <a:xfrm>
            <a:off x="7955280" y="2194560"/>
            <a:ext cx="310896" cy="310896"/>
          </a:xfrm>
          <a:prstGeom prst="rect">
            <a:avLst/>
          </a:prstGeom>
          <a:solidFill>
            <a:srgbClr val="EDEAE4"/>
          </a:solidFill>
          <a:ln w="9525">
            <a:solidFill>
              <a:srgbClr val="DDD6CB"/>
            </a:solidFill>
            <a:prstDash val="solid"/>
          </a:ln>
        </p:spPr>
      </p:sp>
      <p:sp>
        <p:nvSpPr>
          <p:cNvPr id="15" name="Shape 13"/>
          <p:cNvSpPr/>
          <p:nvPr/>
        </p:nvSpPr>
        <p:spPr>
          <a:xfrm>
            <a:off x="8321040" y="2194560"/>
            <a:ext cx="310896" cy="310896"/>
          </a:xfrm>
          <a:prstGeom prst="rect">
            <a:avLst/>
          </a:prstGeom>
          <a:solidFill>
            <a:srgbClr val="EDEAE4"/>
          </a:solidFill>
          <a:ln w="9525">
            <a:solidFill>
              <a:srgbClr val="DDD6CB"/>
            </a:solidFill>
            <a:prstDash val="solid"/>
          </a:ln>
        </p:spPr>
      </p:sp>
      <p:sp>
        <p:nvSpPr>
          <p:cNvPr id="16" name="Shape 14"/>
          <p:cNvSpPr/>
          <p:nvPr/>
        </p:nvSpPr>
        <p:spPr>
          <a:xfrm>
            <a:off x="6492240" y="2560320"/>
            <a:ext cx="310896" cy="310896"/>
          </a:xfrm>
          <a:prstGeom prst="rect">
            <a:avLst/>
          </a:prstGeom>
          <a:solidFill>
            <a:srgbClr val="EDEAE4"/>
          </a:solidFill>
          <a:ln w="9525">
            <a:solidFill>
              <a:srgbClr val="DDD6CB"/>
            </a:solidFill>
            <a:prstDash val="solid"/>
          </a:ln>
        </p:spPr>
      </p:sp>
      <p:sp>
        <p:nvSpPr>
          <p:cNvPr id="17" name="Shape 15"/>
          <p:cNvSpPr/>
          <p:nvPr/>
        </p:nvSpPr>
        <p:spPr>
          <a:xfrm>
            <a:off x="6858000" y="2560320"/>
            <a:ext cx="310896" cy="310896"/>
          </a:xfrm>
          <a:prstGeom prst="rect">
            <a:avLst/>
          </a:prstGeom>
          <a:solidFill>
            <a:srgbClr val="EDEAE4"/>
          </a:solidFill>
          <a:ln w="9525">
            <a:solidFill>
              <a:srgbClr val="DDD6CB"/>
            </a:solidFill>
            <a:prstDash val="solid"/>
          </a:ln>
        </p:spPr>
      </p:sp>
      <p:sp>
        <p:nvSpPr>
          <p:cNvPr id="18" name="Shape 16"/>
          <p:cNvSpPr/>
          <p:nvPr/>
        </p:nvSpPr>
        <p:spPr>
          <a:xfrm>
            <a:off x="7223760" y="2560320"/>
            <a:ext cx="310896" cy="310896"/>
          </a:xfrm>
          <a:prstGeom prst="rect">
            <a:avLst/>
          </a:prstGeom>
          <a:solidFill>
            <a:srgbClr val="EDEAE4"/>
          </a:solidFill>
          <a:ln w="9525">
            <a:solidFill>
              <a:srgbClr val="DDD6CB"/>
            </a:solidFill>
            <a:prstDash val="solid"/>
          </a:ln>
        </p:spPr>
      </p:sp>
      <p:sp>
        <p:nvSpPr>
          <p:cNvPr id="19" name="Shape 17"/>
          <p:cNvSpPr/>
          <p:nvPr/>
        </p:nvSpPr>
        <p:spPr>
          <a:xfrm>
            <a:off x="7589520" y="2560320"/>
            <a:ext cx="310896" cy="310896"/>
          </a:xfrm>
          <a:prstGeom prst="rect">
            <a:avLst/>
          </a:prstGeom>
          <a:solidFill>
            <a:srgbClr val="EDEAE4"/>
          </a:solidFill>
          <a:ln w="9525">
            <a:solidFill>
              <a:srgbClr val="DDD6CB"/>
            </a:solidFill>
            <a:prstDash val="solid"/>
          </a:ln>
        </p:spPr>
      </p:sp>
      <p:sp>
        <p:nvSpPr>
          <p:cNvPr id="20" name="Shape 18"/>
          <p:cNvSpPr/>
          <p:nvPr/>
        </p:nvSpPr>
        <p:spPr>
          <a:xfrm>
            <a:off x="7955280" y="2560320"/>
            <a:ext cx="310896" cy="310896"/>
          </a:xfrm>
          <a:prstGeom prst="rect">
            <a:avLst/>
          </a:prstGeom>
          <a:solidFill>
            <a:srgbClr val="EDEAE4"/>
          </a:solidFill>
          <a:ln w="9525">
            <a:solidFill>
              <a:srgbClr val="DDD6CB"/>
            </a:solidFill>
            <a:prstDash val="solid"/>
          </a:ln>
        </p:spPr>
      </p:sp>
      <p:sp>
        <p:nvSpPr>
          <p:cNvPr id="21" name="Shape 19"/>
          <p:cNvSpPr/>
          <p:nvPr/>
        </p:nvSpPr>
        <p:spPr>
          <a:xfrm>
            <a:off x="8321040" y="2560320"/>
            <a:ext cx="310896" cy="310896"/>
          </a:xfrm>
          <a:prstGeom prst="rect">
            <a:avLst/>
          </a:prstGeom>
          <a:solidFill>
            <a:srgbClr val="EDEAE4"/>
          </a:solidFill>
          <a:ln w="9525">
            <a:solidFill>
              <a:srgbClr val="DDD6CB"/>
            </a:solidFill>
            <a:prstDash val="solid"/>
          </a:ln>
        </p:spPr>
      </p:sp>
      <p:sp>
        <p:nvSpPr>
          <p:cNvPr id="22" name="Shape 20"/>
          <p:cNvSpPr/>
          <p:nvPr/>
        </p:nvSpPr>
        <p:spPr>
          <a:xfrm>
            <a:off x="6492240" y="2926080"/>
            <a:ext cx="310896" cy="310896"/>
          </a:xfrm>
          <a:prstGeom prst="rect">
            <a:avLst/>
          </a:prstGeom>
          <a:solidFill>
            <a:srgbClr val="EDEAE4"/>
          </a:solidFill>
          <a:ln w="9525">
            <a:solidFill>
              <a:srgbClr val="DDD6CB"/>
            </a:solidFill>
            <a:prstDash val="solid"/>
          </a:ln>
        </p:spPr>
      </p:sp>
      <p:sp>
        <p:nvSpPr>
          <p:cNvPr id="23" name="Shape 21"/>
          <p:cNvSpPr/>
          <p:nvPr/>
        </p:nvSpPr>
        <p:spPr>
          <a:xfrm>
            <a:off x="6858000" y="2926080"/>
            <a:ext cx="310896" cy="310896"/>
          </a:xfrm>
          <a:prstGeom prst="rect">
            <a:avLst/>
          </a:prstGeom>
          <a:solidFill>
            <a:srgbClr val="EDEAE4"/>
          </a:solidFill>
          <a:ln w="9525">
            <a:solidFill>
              <a:srgbClr val="DDD6CB"/>
            </a:solidFill>
            <a:prstDash val="solid"/>
          </a:ln>
        </p:spPr>
      </p:sp>
      <p:sp>
        <p:nvSpPr>
          <p:cNvPr id="24" name="Shape 22"/>
          <p:cNvSpPr/>
          <p:nvPr/>
        </p:nvSpPr>
        <p:spPr>
          <a:xfrm>
            <a:off x="7223760" y="2926080"/>
            <a:ext cx="310896" cy="310896"/>
          </a:xfrm>
          <a:prstGeom prst="rect">
            <a:avLst/>
          </a:prstGeom>
          <a:solidFill>
            <a:srgbClr val="EDEAE4"/>
          </a:solidFill>
          <a:ln w="9525">
            <a:solidFill>
              <a:srgbClr val="DDD6CB"/>
            </a:solidFill>
            <a:prstDash val="solid"/>
          </a:ln>
        </p:spPr>
      </p:sp>
      <p:sp>
        <p:nvSpPr>
          <p:cNvPr id="25" name="Shape 23"/>
          <p:cNvSpPr/>
          <p:nvPr/>
        </p:nvSpPr>
        <p:spPr>
          <a:xfrm>
            <a:off x="7589520" y="2926080"/>
            <a:ext cx="310896" cy="310896"/>
          </a:xfrm>
          <a:prstGeom prst="rect">
            <a:avLst/>
          </a:prstGeom>
          <a:solidFill>
            <a:srgbClr val="EDEAE4"/>
          </a:solidFill>
          <a:ln w="9525">
            <a:solidFill>
              <a:srgbClr val="DDD6CB"/>
            </a:solidFill>
            <a:prstDash val="solid"/>
          </a:ln>
        </p:spPr>
      </p:sp>
      <p:sp>
        <p:nvSpPr>
          <p:cNvPr id="26" name="Shape 24"/>
          <p:cNvSpPr/>
          <p:nvPr/>
        </p:nvSpPr>
        <p:spPr>
          <a:xfrm>
            <a:off x="7955280" y="2926080"/>
            <a:ext cx="310896" cy="310896"/>
          </a:xfrm>
          <a:prstGeom prst="rect">
            <a:avLst/>
          </a:prstGeom>
          <a:solidFill>
            <a:srgbClr val="EDEAE4"/>
          </a:solidFill>
          <a:ln w="9525">
            <a:solidFill>
              <a:srgbClr val="DDD6CB"/>
            </a:solidFill>
            <a:prstDash val="solid"/>
          </a:ln>
        </p:spPr>
      </p:sp>
      <p:sp>
        <p:nvSpPr>
          <p:cNvPr id="27" name="Shape 25"/>
          <p:cNvSpPr/>
          <p:nvPr/>
        </p:nvSpPr>
        <p:spPr>
          <a:xfrm>
            <a:off x="8321040" y="2926080"/>
            <a:ext cx="310896" cy="310896"/>
          </a:xfrm>
          <a:prstGeom prst="rect">
            <a:avLst/>
          </a:prstGeom>
          <a:solidFill>
            <a:srgbClr val="EDEAE4"/>
          </a:solidFill>
          <a:ln w="9525">
            <a:solidFill>
              <a:srgbClr val="DDD6CB"/>
            </a:solidFill>
            <a:prstDash val="solid"/>
          </a:ln>
        </p:spPr>
      </p:sp>
      <p:sp>
        <p:nvSpPr>
          <p:cNvPr id="28" name="Shape 26"/>
          <p:cNvSpPr/>
          <p:nvPr/>
        </p:nvSpPr>
        <p:spPr>
          <a:xfrm>
            <a:off x="6492240" y="3291840"/>
            <a:ext cx="310896" cy="310896"/>
          </a:xfrm>
          <a:prstGeom prst="rect">
            <a:avLst/>
          </a:prstGeom>
          <a:solidFill>
            <a:srgbClr val="EDEAE4"/>
          </a:solidFill>
          <a:ln w="9525">
            <a:solidFill>
              <a:srgbClr val="DDD6CB"/>
            </a:solidFill>
            <a:prstDash val="solid"/>
          </a:ln>
        </p:spPr>
      </p:sp>
      <p:sp>
        <p:nvSpPr>
          <p:cNvPr id="29" name="Shape 27"/>
          <p:cNvSpPr/>
          <p:nvPr/>
        </p:nvSpPr>
        <p:spPr>
          <a:xfrm>
            <a:off x="6858000" y="3291840"/>
            <a:ext cx="310896" cy="310896"/>
          </a:xfrm>
          <a:prstGeom prst="rect">
            <a:avLst/>
          </a:prstGeom>
          <a:solidFill>
            <a:srgbClr val="EDEAE4"/>
          </a:solidFill>
          <a:ln w="9525">
            <a:solidFill>
              <a:srgbClr val="DDD6CB"/>
            </a:solidFill>
            <a:prstDash val="solid"/>
          </a:ln>
        </p:spPr>
      </p:sp>
      <p:sp>
        <p:nvSpPr>
          <p:cNvPr id="30" name="Shape 28"/>
          <p:cNvSpPr/>
          <p:nvPr/>
        </p:nvSpPr>
        <p:spPr>
          <a:xfrm>
            <a:off x="7223760" y="3291840"/>
            <a:ext cx="310896" cy="310896"/>
          </a:xfrm>
          <a:prstGeom prst="rect">
            <a:avLst/>
          </a:prstGeom>
          <a:solidFill>
            <a:srgbClr val="EDEAE4"/>
          </a:solidFill>
          <a:ln w="9525">
            <a:solidFill>
              <a:srgbClr val="DDD6CB"/>
            </a:solidFill>
            <a:prstDash val="solid"/>
          </a:ln>
        </p:spPr>
      </p:sp>
      <p:sp>
        <p:nvSpPr>
          <p:cNvPr id="31" name="Shape 29"/>
          <p:cNvSpPr/>
          <p:nvPr/>
        </p:nvSpPr>
        <p:spPr>
          <a:xfrm>
            <a:off x="7589520" y="3291840"/>
            <a:ext cx="310896" cy="310896"/>
          </a:xfrm>
          <a:prstGeom prst="rect">
            <a:avLst/>
          </a:prstGeom>
          <a:solidFill>
            <a:srgbClr val="EDEAE4"/>
          </a:solidFill>
          <a:ln w="9525">
            <a:solidFill>
              <a:srgbClr val="DDD6CB"/>
            </a:solidFill>
            <a:prstDash val="solid"/>
          </a:ln>
        </p:spPr>
      </p:sp>
      <p:sp>
        <p:nvSpPr>
          <p:cNvPr id="32" name="Shape 30"/>
          <p:cNvSpPr/>
          <p:nvPr/>
        </p:nvSpPr>
        <p:spPr>
          <a:xfrm>
            <a:off x="7955280" y="3291840"/>
            <a:ext cx="310896" cy="310896"/>
          </a:xfrm>
          <a:prstGeom prst="rect">
            <a:avLst/>
          </a:prstGeom>
          <a:solidFill>
            <a:srgbClr val="EDEAE4"/>
          </a:solidFill>
          <a:ln w="9525">
            <a:solidFill>
              <a:srgbClr val="DDD6CB"/>
            </a:solidFill>
            <a:prstDash val="solid"/>
          </a:ln>
        </p:spPr>
      </p:sp>
      <p:sp>
        <p:nvSpPr>
          <p:cNvPr id="33" name="Shape 31"/>
          <p:cNvSpPr/>
          <p:nvPr/>
        </p:nvSpPr>
        <p:spPr>
          <a:xfrm>
            <a:off x="8321040" y="3291840"/>
            <a:ext cx="310896" cy="310896"/>
          </a:xfrm>
          <a:prstGeom prst="rect">
            <a:avLst/>
          </a:prstGeom>
          <a:solidFill>
            <a:srgbClr val="EDEAE4"/>
          </a:solidFill>
          <a:ln w="9525">
            <a:solidFill>
              <a:srgbClr val="DDD6CB"/>
            </a:solidFill>
            <a:prstDash val="solid"/>
          </a:ln>
        </p:spPr>
      </p:sp>
      <p:sp>
        <p:nvSpPr>
          <p:cNvPr id="34" name="Shape 32"/>
          <p:cNvSpPr/>
          <p:nvPr/>
        </p:nvSpPr>
        <p:spPr>
          <a:xfrm>
            <a:off x="6492240" y="3657600"/>
            <a:ext cx="310896" cy="310896"/>
          </a:xfrm>
          <a:prstGeom prst="rect">
            <a:avLst/>
          </a:prstGeom>
          <a:solidFill>
            <a:srgbClr val="EDEAE4"/>
          </a:solidFill>
          <a:ln w="9525">
            <a:solidFill>
              <a:srgbClr val="DDD6CB"/>
            </a:solidFill>
            <a:prstDash val="solid"/>
          </a:ln>
        </p:spPr>
      </p:sp>
      <p:sp>
        <p:nvSpPr>
          <p:cNvPr id="35" name="Shape 33"/>
          <p:cNvSpPr/>
          <p:nvPr/>
        </p:nvSpPr>
        <p:spPr>
          <a:xfrm>
            <a:off x="6858000" y="3657600"/>
            <a:ext cx="310896" cy="310896"/>
          </a:xfrm>
          <a:prstGeom prst="rect">
            <a:avLst/>
          </a:prstGeom>
          <a:solidFill>
            <a:srgbClr val="EDEAE4"/>
          </a:solidFill>
          <a:ln w="9525">
            <a:solidFill>
              <a:srgbClr val="DDD6CB"/>
            </a:solidFill>
            <a:prstDash val="solid"/>
          </a:ln>
        </p:spPr>
      </p:sp>
      <p:sp>
        <p:nvSpPr>
          <p:cNvPr id="36" name="Shape 34"/>
          <p:cNvSpPr/>
          <p:nvPr/>
        </p:nvSpPr>
        <p:spPr>
          <a:xfrm>
            <a:off x="7223760" y="3657600"/>
            <a:ext cx="310896" cy="310896"/>
          </a:xfrm>
          <a:prstGeom prst="rect">
            <a:avLst/>
          </a:prstGeom>
          <a:solidFill>
            <a:srgbClr val="EDEAE4"/>
          </a:solidFill>
          <a:ln w="9525">
            <a:solidFill>
              <a:srgbClr val="DDD6CB"/>
            </a:solidFill>
            <a:prstDash val="solid"/>
          </a:ln>
        </p:spPr>
      </p:sp>
      <p:sp>
        <p:nvSpPr>
          <p:cNvPr id="37" name="Shape 35"/>
          <p:cNvSpPr/>
          <p:nvPr/>
        </p:nvSpPr>
        <p:spPr>
          <a:xfrm>
            <a:off x="7589520" y="3657600"/>
            <a:ext cx="310896" cy="310896"/>
          </a:xfrm>
          <a:prstGeom prst="rect">
            <a:avLst/>
          </a:prstGeom>
          <a:solidFill>
            <a:srgbClr val="EDEAE4"/>
          </a:solidFill>
          <a:ln w="9525">
            <a:solidFill>
              <a:srgbClr val="DDD6CB"/>
            </a:solidFill>
            <a:prstDash val="solid"/>
          </a:ln>
        </p:spPr>
      </p:sp>
      <p:sp>
        <p:nvSpPr>
          <p:cNvPr id="38" name="Shape 36"/>
          <p:cNvSpPr/>
          <p:nvPr/>
        </p:nvSpPr>
        <p:spPr>
          <a:xfrm>
            <a:off x="7955280" y="3657600"/>
            <a:ext cx="310896" cy="310896"/>
          </a:xfrm>
          <a:prstGeom prst="rect">
            <a:avLst/>
          </a:prstGeom>
          <a:solidFill>
            <a:srgbClr val="EDEAE4"/>
          </a:solidFill>
          <a:ln w="9525">
            <a:solidFill>
              <a:srgbClr val="DDD6CB"/>
            </a:solidFill>
            <a:prstDash val="solid"/>
          </a:ln>
        </p:spPr>
      </p:sp>
      <p:sp>
        <p:nvSpPr>
          <p:cNvPr id="39" name="Shape 37"/>
          <p:cNvSpPr/>
          <p:nvPr/>
        </p:nvSpPr>
        <p:spPr>
          <a:xfrm>
            <a:off x="8321040" y="3657600"/>
            <a:ext cx="310896" cy="310896"/>
          </a:xfrm>
          <a:prstGeom prst="rect">
            <a:avLst/>
          </a:prstGeom>
          <a:solidFill>
            <a:srgbClr val="EDEAE4"/>
          </a:solidFill>
          <a:ln w="9525">
            <a:solidFill>
              <a:srgbClr val="DDD6CB"/>
            </a:solidFill>
            <a:prstDash val="solid"/>
          </a:ln>
        </p:spPr>
      </p:sp>
      <p:sp>
        <p:nvSpPr>
          <p:cNvPr id="40" name="Text 38"/>
          <p:cNvSpPr txBox="1"/>
          <p:nvPr/>
        </p:nvSpPr>
        <p:spPr>
          <a:xfrm>
            <a:off x="6492240" y="4069080"/>
            <a:ext cx="2194560" cy="274320"/>
          </a:xfrm>
          <a:prstGeom prst="rect">
            <a:avLst/>
          </a:prstGeom>
          <a:noFill/>
          <a:ln/>
        </p:spPr>
        <p:txBody>
          <a:bodyPr wrap="square" lIns="0" tIns="0" rIns="0" bIns="0" rtlCol="0" anchor="ctr"/>
          <a:lstStyle/>
          <a:p>
            <a:pPr algn="ctr" indent="0" marL="0">
              <a:buNone/>
            </a:pPr>
            <a:r>
              <a:rPr lang="en-US" sz="1100" dirty="0">
                <a:solidFill>
                  <a:srgbClr val="6B6258"/>
                </a:solidFill>
                <a:latin typeface="Calibri" pitchFamily="34" charset="0"/>
                <a:ea typeface="Calibri" pitchFamily="34" charset="-122"/>
                <a:cs typeface="Calibri" pitchFamily="34" charset="-120"/>
              </a:rPr>
              <a:t>millions of voxels</a:t>
            </a:r>
            <a:endParaRPr lang="en-US" sz="1100" dirty="0"/>
          </a:p>
        </p:txBody>
      </p:sp>
      <p:sp>
        <p:nvSpPr>
          <p:cNvPr id="41" name="Shape 39"/>
          <p:cNvSpPr/>
          <p:nvPr/>
        </p:nvSpPr>
        <p:spPr>
          <a:xfrm>
            <a:off x="8915400" y="2651760"/>
            <a:ext cx="640080" cy="457200"/>
          </a:xfrm>
          <a:prstGeom prst="rightArrow">
            <a:avLst/>
          </a:prstGeom>
          <a:solidFill>
            <a:srgbClr val="E8973F"/>
          </a:solidFill>
          <a:ln/>
        </p:spPr>
      </p:sp>
      <p:sp>
        <p:nvSpPr>
          <p:cNvPr id="42" name="Shape 40"/>
          <p:cNvSpPr/>
          <p:nvPr/>
        </p:nvSpPr>
        <p:spPr>
          <a:xfrm>
            <a:off x="10012680" y="2148840"/>
            <a:ext cx="310896" cy="310896"/>
          </a:xfrm>
          <a:prstGeom prst="ellipse">
            <a:avLst/>
          </a:prstGeom>
          <a:solidFill>
            <a:srgbClr val="E8973F">
              <a:alpha val="88000"/>
            </a:srgbClr>
          </a:solidFill>
          <a:ln w="12700">
            <a:solidFill>
              <a:srgbClr val="E8973F"/>
            </a:solidFill>
            <a:prstDash val="solid"/>
          </a:ln>
        </p:spPr>
      </p:sp>
      <p:sp>
        <p:nvSpPr>
          <p:cNvPr id="43" name="Shape 41"/>
          <p:cNvSpPr/>
          <p:nvPr/>
        </p:nvSpPr>
        <p:spPr>
          <a:xfrm>
            <a:off x="10607040" y="2011680"/>
            <a:ext cx="237744" cy="237744"/>
          </a:xfrm>
          <a:prstGeom prst="ellipse">
            <a:avLst/>
          </a:prstGeom>
          <a:solidFill>
            <a:srgbClr val="E8973F">
              <a:alpha val="88000"/>
            </a:srgbClr>
          </a:solidFill>
          <a:ln w="12700">
            <a:solidFill>
              <a:srgbClr val="E8973F"/>
            </a:solidFill>
            <a:prstDash val="solid"/>
          </a:ln>
        </p:spPr>
      </p:sp>
      <p:sp>
        <p:nvSpPr>
          <p:cNvPr id="44" name="Shape 42"/>
          <p:cNvSpPr/>
          <p:nvPr/>
        </p:nvSpPr>
        <p:spPr>
          <a:xfrm>
            <a:off x="9875520" y="2651760"/>
            <a:ext cx="274320" cy="274320"/>
          </a:xfrm>
          <a:prstGeom prst="ellipse">
            <a:avLst/>
          </a:prstGeom>
          <a:solidFill>
            <a:srgbClr val="E8973F">
              <a:alpha val="88000"/>
            </a:srgbClr>
          </a:solidFill>
          <a:ln w="12700">
            <a:solidFill>
              <a:srgbClr val="E8973F"/>
            </a:solidFill>
            <a:prstDash val="solid"/>
          </a:ln>
        </p:spPr>
      </p:sp>
      <p:sp>
        <p:nvSpPr>
          <p:cNvPr id="45" name="Shape 43"/>
          <p:cNvSpPr/>
          <p:nvPr/>
        </p:nvSpPr>
        <p:spPr>
          <a:xfrm>
            <a:off x="10424160" y="2514600"/>
            <a:ext cx="347472" cy="347472"/>
          </a:xfrm>
          <a:prstGeom prst="ellipse">
            <a:avLst/>
          </a:prstGeom>
          <a:solidFill>
            <a:srgbClr val="E8973F">
              <a:alpha val="88000"/>
            </a:srgbClr>
          </a:solidFill>
          <a:ln w="12700">
            <a:solidFill>
              <a:srgbClr val="E8973F"/>
            </a:solidFill>
            <a:prstDash val="solid"/>
          </a:ln>
        </p:spPr>
      </p:sp>
      <p:sp>
        <p:nvSpPr>
          <p:cNvPr id="46" name="Shape 44"/>
          <p:cNvSpPr/>
          <p:nvPr/>
        </p:nvSpPr>
        <p:spPr>
          <a:xfrm>
            <a:off x="10881360" y="2743200"/>
            <a:ext cx="219456" cy="219456"/>
          </a:xfrm>
          <a:prstGeom prst="ellipse">
            <a:avLst/>
          </a:prstGeom>
          <a:solidFill>
            <a:srgbClr val="E8973F">
              <a:alpha val="88000"/>
            </a:srgbClr>
          </a:solidFill>
          <a:ln w="12700">
            <a:solidFill>
              <a:srgbClr val="E8973F"/>
            </a:solidFill>
            <a:prstDash val="solid"/>
          </a:ln>
        </p:spPr>
      </p:sp>
      <p:sp>
        <p:nvSpPr>
          <p:cNvPr id="47" name="Shape 45"/>
          <p:cNvSpPr/>
          <p:nvPr/>
        </p:nvSpPr>
        <p:spPr>
          <a:xfrm>
            <a:off x="10195560" y="3200400"/>
            <a:ext cx="274320" cy="274320"/>
          </a:xfrm>
          <a:prstGeom prst="ellipse">
            <a:avLst/>
          </a:prstGeom>
          <a:solidFill>
            <a:srgbClr val="E8973F">
              <a:alpha val="88000"/>
            </a:srgbClr>
          </a:solidFill>
          <a:ln w="12700">
            <a:solidFill>
              <a:srgbClr val="E8973F"/>
            </a:solidFill>
            <a:prstDash val="solid"/>
          </a:ln>
        </p:spPr>
      </p:sp>
      <p:sp>
        <p:nvSpPr>
          <p:cNvPr id="48" name="Shape 46"/>
          <p:cNvSpPr/>
          <p:nvPr/>
        </p:nvSpPr>
        <p:spPr>
          <a:xfrm>
            <a:off x="10698480" y="3337560"/>
            <a:ext cx="237744" cy="237744"/>
          </a:xfrm>
          <a:prstGeom prst="ellipse">
            <a:avLst/>
          </a:prstGeom>
          <a:solidFill>
            <a:srgbClr val="E8973F">
              <a:alpha val="88000"/>
            </a:srgbClr>
          </a:solidFill>
          <a:ln w="12700">
            <a:solidFill>
              <a:srgbClr val="E8973F"/>
            </a:solidFill>
            <a:prstDash val="solid"/>
          </a:ln>
        </p:spPr>
      </p:sp>
      <p:sp>
        <p:nvSpPr>
          <p:cNvPr id="49" name="Text 47"/>
          <p:cNvSpPr txBox="1"/>
          <p:nvPr/>
        </p:nvSpPr>
        <p:spPr>
          <a:xfrm>
            <a:off x="9646920" y="3749040"/>
            <a:ext cx="1920240" cy="274320"/>
          </a:xfrm>
          <a:prstGeom prst="rect">
            <a:avLst/>
          </a:prstGeom>
          <a:noFill/>
          <a:ln/>
        </p:spPr>
        <p:txBody>
          <a:bodyPr wrap="square" lIns="0" tIns="0" rIns="0" bIns="0" rtlCol="0" anchor="ctr"/>
          <a:lstStyle/>
          <a:p>
            <a:pPr algn="ctr" indent="0" marL="0">
              <a:buNone/>
            </a:pPr>
            <a:r>
              <a:rPr lang="en-US" sz="1100" dirty="0">
                <a:solidFill>
                  <a:srgbClr val="6B6258"/>
                </a:solidFill>
                <a:latin typeface="Calibri" pitchFamily="34" charset="0"/>
                <a:ea typeface="Calibri" pitchFamily="34" charset="-122"/>
                <a:cs typeface="Calibri" pitchFamily="34" charset="-120"/>
              </a:rPr>
              <a:t>a few hundred Gaussians</a:t>
            </a:r>
            <a:endParaRPr lang="en-US" sz="1100" dirty="0"/>
          </a:p>
        </p:txBody>
      </p:sp>
      <p:sp>
        <p:nvSpPr>
          <p:cNvPr id="50" name="Text 48"/>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6B6258"/>
                </a:solidFill>
                <a:latin typeface="Calibri" pitchFamily="34" charset="0"/>
                <a:ea typeface="Calibri" pitchFamily="34" charset="-122"/>
                <a:cs typeface="Calibri" pitchFamily="34" charset="-120"/>
              </a:rPr>
              <a:t>Tribolium nuclei · 3D Gaussian splatting</a:t>
            </a:r>
            <a:endParaRPr lang="en-US" sz="900" dirty="0"/>
          </a:p>
        </p:txBody>
      </p:sp>
      <p:sp>
        <p:nvSpPr>
          <p:cNvPr id="51" name="Text 49"/>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6B625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731520"/>
          </a:xfrm>
          <a:prstGeom prst="rect">
            <a:avLst/>
          </a:prstGeom>
          <a:noFill/>
          <a:ln/>
        </p:spPr>
        <p:txBody>
          <a:bodyPr wrap="square" lIns="0" tIns="0" rIns="0" bIns="0" rtlCol="0" anchor="ctr"/>
          <a:lstStyle/>
          <a:p>
            <a:pPr indent="0" marL="0">
              <a:buNone/>
            </a:pPr>
            <a:r>
              <a:rPr lang="en-US" sz="3200" b="1" dirty="0">
                <a:solidFill>
                  <a:srgbClr val="1A1610"/>
                </a:solidFill>
                <a:latin typeface="Cambria" pitchFamily="34" charset="0"/>
                <a:ea typeface="Cambria" pitchFamily="34" charset="-122"/>
                <a:cs typeface="Cambria" pitchFamily="34" charset="-120"/>
              </a:rPr>
              <a:t>Built on Prior Work</a:t>
            </a:r>
            <a:endParaRPr lang="en-US" sz="3200" dirty="0"/>
          </a:p>
        </p:txBody>
      </p:sp>
      <p:sp>
        <p:nvSpPr>
          <p:cNvPr id="3" name="Text 1"/>
          <p:cNvSpPr txBox="1"/>
          <p:nvPr/>
        </p:nvSpPr>
        <p:spPr>
          <a:xfrm>
            <a:off x="640080" y="1234440"/>
            <a:ext cx="10881360" cy="457200"/>
          </a:xfrm>
          <a:prstGeom prst="rect">
            <a:avLst/>
          </a:prstGeom>
          <a:noFill/>
          <a:ln/>
        </p:spPr>
        <p:txBody>
          <a:bodyPr wrap="square" lIns="0" tIns="0" rIns="0" bIns="0" rtlCol="0" anchor="ctr"/>
          <a:lstStyle/>
          <a:p>
            <a:pPr indent="0" marL="0">
              <a:buNone/>
            </a:pPr>
            <a:r>
              <a:rPr lang="en-US" sz="1400" i="1" dirty="0">
                <a:solidFill>
                  <a:srgbClr val="6B6258"/>
                </a:solidFill>
                <a:latin typeface="Calibri" pitchFamily="34" charset="0"/>
                <a:ea typeface="Calibri" pitchFamily="34" charset="-122"/>
                <a:cs typeface="Calibri" pitchFamily="34" charset="-120"/>
              </a:rPr>
              <a:t>Items 1-4 are from [colleague name]’s archive (“runs 2”, frozen 18 July 2026). The re-analysis and validation after it are ours.</a:t>
            </a:r>
            <a:endParaRPr lang="en-US" sz="1400" dirty="0"/>
          </a:p>
        </p:txBody>
      </p:sp>
      <p:sp>
        <p:nvSpPr>
          <p:cNvPr id="4" name="Shape 2"/>
          <p:cNvSpPr/>
          <p:nvPr/>
        </p:nvSpPr>
        <p:spPr>
          <a:xfrm>
            <a:off x="640080" y="1965960"/>
            <a:ext cx="457200" cy="457200"/>
          </a:xfrm>
          <a:prstGeom prst="ellipse">
            <a:avLst/>
          </a:prstGeom>
          <a:solidFill>
            <a:srgbClr val="4F7C93"/>
          </a:solidFill>
          <a:ln/>
        </p:spPr>
      </p:sp>
      <p:sp>
        <p:nvSpPr>
          <p:cNvPr id="5" name="Text 3"/>
          <p:cNvSpPr txBox="1"/>
          <p:nvPr/>
        </p:nvSpPr>
        <p:spPr>
          <a:xfrm>
            <a:off x="640080" y="1965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25880" y="1929384"/>
            <a:ext cx="5212080" cy="365760"/>
          </a:xfrm>
          <a:prstGeom prst="rect">
            <a:avLst/>
          </a:prstGeom>
          <a:noFill/>
          <a:ln/>
        </p:spPr>
        <p:txBody>
          <a:bodyPr wrap="square" lIns="0" tIns="0" rIns="0" bIns="0" rtlCol="0" anchor="ctr"/>
          <a:lstStyle/>
          <a:p>
            <a:pPr indent="0" marL="0">
              <a:buNone/>
            </a:pPr>
            <a:r>
              <a:rPr lang="en-US" sz="1500" b="1" dirty="0">
                <a:solidFill>
                  <a:srgbClr val="1A1610"/>
                </a:solidFill>
                <a:latin typeface="Calibri" pitchFamily="34" charset="0"/>
                <a:ea typeface="Calibri" pitchFamily="34" charset="-122"/>
                <a:cs typeface="Calibri" pitchFamily="34" charset="-120"/>
              </a:rPr>
              <a:t>57 experiments, 399 fits</a:t>
            </a:r>
            <a:endParaRPr lang="en-US" sz="1500" dirty="0"/>
          </a:p>
        </p:txBody>
      </p:sp>
      <p:sp>
        <p:nvSpPr>
          <p:cNvPr id="7" name="Text 5"/>
          <p:cNvSpPr txBox="1"/>
          <p:nvPr/>
        </p:nvSpPr>
        <p:spPr>
          <a:xfrm>
            <a:off x="1325880" y="2258568"/>
            <a:ext cx="9966960" cy="457200"/>
          </a:xfrm>
          <a:prstGeom prst="rect">
            <a:avLst/>
          </a:prstGeom>
          <a:noFill/>
          <a:ln/>
        </p:spPr>
        <p:txBody>
          <a:bodyPr wrap="square" lIns="0" tIns="0" rIns="0" bIns="0" rtlCol="0" anchor="ctr"/>
          <a:lstStyle/>
          <a:p>
            <a:pPr indent="0" marL="0">
              <a:buNone/>
            </a:pPr>
            <a:r>
              <a:rPr lang="en-US" sz="1200" dirty="0">
                <a:solidFill>
                  <a:srgbClr val="6B6258"/>
                </a:solidFill>
                <a:latin typeface="Calibri" pitchFamily="34" charset="0"/>
                <a:ea typeface="Calibri" pitchFamily="34" charset="-122"/>
                <a:cs typeface="Calibri" pitchFamily="34" charset="-120"/>
              </a:rPr>
              <a:t>A systematic sweep across parameterization, initialization, and budget — the largest single body of work behind this project.</a:t>
            </a:r>
            <a:endParaRPr lang="en-US" sz="1200" dirty="0"/>
          </a:p>
        </p:txBody>
      </p:sp>
      <p:sp>
        <p:nvSpPr>
          <p:cNvPr id="8" name="Shape 6"/>
          <p:cNvSpPr/>
          <p:nvPr/>
        </p:nvSpPr>
        <p:spPr>
          <a:xfrm>
            <a:off x="640080" y="2834640"/>
            <a:ext cx="457200" cy="457200"/>
          </a:xfrm>
          <a:prstGeom prst="ellipse">
            <a:avLst/>
          </a:prstGeom>
          <a:solidFill>
            <a:srgbClr val="4F7C93"/>
          </a:solidFill>
          <a:ln/>
        </p:spPr>
      </p:sp>
      <p:sp>
        <p:nvSpPr>
          <p:cNvPr id="9" name="Text 7"/>
          <p:cNvSpPr txBox="1"/>
          <p:nvPr/>
        </p:nvSpPr>
        <p:spPr>
          <a:xfrm>
            <a:off x="640080" y="28346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txBox="1"/>
          <p:nvPr/>
        </p:nvSpPr>
        <p:spPr>
          <a:xfrm>
            <a:off x="1325880" y="2798064"/>
            <a:ext cx="5212080" cy="365760"/>
          </a:xfrm>
          <a:prstGeom prst="rect">
            <a:avLst/>
          </a:prstGeom>
          <a:noFill/>
          <a:ln/>
        </p:spPr>
        <p:txBody>
          <a:bodyPr wrap="square" lIns="0" tIns="0" rIns="0" bIns="0" rtlCol="0" anchor="ctr"/>
          <a:lstStyle/>
          <a:p>
            <a:pPr indent="0" marL="0">
              <a:buNone/>
            </a:pPr>
            <a:r>
              <a:rPr lang="en-US" sz="1500" b="1" dirty="0">
                <a:solidFill>
                  <a:srgbClr val="1A1610"/>
                </a:solidFill>
                <a:latin typeface="Calibri" pitchFamily="34" charset="0"/>
                <a:ea typeface="Calibri" pitchFamily="34" charset="-122"/>
                <a:cs typeface="Calibri" pitchFamily="34" charset="-120"/>
              </a:rPr>
              <a:t>Four-way parameterization sweep</a:t>
            </a:r>
            <a:endParaRPr lang="en-US" sz="1500" dirty="0"/>
          </a:p>
        </p:txBody>
      </p:sp>
      <p:sp>
        <p:nvSpPr>
          <p:cNvPr id="11" name="Text 9"/>
          <p:cNvSpPr txBox="1"/>
          <p:nvPr/>
        </p:nvSpPr>
        <p:spPr>
          <a:xfrm>
            <a:off x="1325880" y="3127248"/>
            <a:ext cx="9966960" cy="457200"/>
          </a:xfrm>
          <a:prstGeom prst="rect">
            <a:avLst/>
          </a:prstGeom>
          <a:noFill/>
          <a:ln/>
        </p:spPr>
        <p:txBody>
          <a:bodyPr wrap="square" lIns="0" tIns="0" rIns="0" bIns="0" rtlCol="0" anchor="ctr"/>
          <a:lstStyle/>
          <a:p>
            <a:pPr indent="0" marL="0">
              <a:buNone/>
            </a:pPr>
            <a:r>
              <a:rPr lang="en-US" sz="1200" dirty="0">
                <a:solidFill>
                  <a:srgbClr val="6B6258"/>
                </a:solidFill>
                <a:latin typeface="Calibri" pitchFamily="34" charset="0"/>
                <a:ea typeface="Calibri" pitchFamily="34" charset="-122"/>
                <a:cs typeface="Calibri" pitchFamily="34" charset="-120"/>
              </a:rPr>
              <a:t>Established full-anisotropic Gaussians (11 stored numbers, 10 degrees of freedom) as the strongest representation, ahead of axis-aligned, learned-isotropic, and fixed-isotropic.</a:t>
            </a:r>
            <a:endParaRPr lang="en-US" sz="1200" dirty="0"/>
          </a:p>
        </p:txBody>
      </p:sp>
      <p:sp>
        <p:nvSpPr>
          <p:cNvPr id="12" name="Shape 10"/>
          <p:cNvSpPr/>
          <p:nvPr/>
        </p:nvSpPr>
        <p:spPr>
          <a:xfrm>
            <a:off x="640080" y="3703320"/>
            <a:ext cx="457200" cy="457200"/>
          </a:xfrm>
          <a:prstGeom prst="ellipse">
            <a:avLst/>
          </a:prstGeom>
          <a:solidFill>
            <a:srgbClr val="4F7C93"/>
          </a:solidFill>
          <a:ln/>
        </p:spPr>
      </p:sp>
      <p:sp>
        <p:nvSpPr>
          <p:cNvPr id="13" name="Text 11"/>
          <p:cNvSpPr txBox="1"/>
          <p:nvPr/>
        </p:nvSpPr>
        <p:spPr>
          <a:xfrm>
            <a:off x="640080" y="3703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txBox="1"/>
          <p:nvPr/>
        </p:nvSpPr>
        <p:spPr>
          <a:xfrm>
            <a:off x="1325880" y="3666744"/>
            <a:ext cx="5212080" cy="365760"/>
          </a:xfrm>
          <a:prstGeom prst="rect">
            <a:avLst/>
          </a:prstGeom>
          <a:noFill/>
          <a:ln/>
        </p:spPr>
        <p:txBody>
          <a:bodyPr wrap="square" lIns="0" tIns="0" rIns="0" bIns="0" rtlCol="0" anchor="ctr"/>
          <a:lstStyle/>
          <a:p>
            <a:pPr indent="0" marL="0">
              <a:buNone/>
            </a:pPr>
            <a:r>
              <a:rPr lang="en-US" sz="1500" b="1" dirty="0">
                <a:solidFill>
                  <a:srgbClr val="1A1610"/>
                </a:solidFill>
                <a:latin typeface="Calibri" pitchFamily="34" charset="0"/>
                <a:ea typeface="Calibri" pitchFamily="34" charset="-122"/>
                <a:cs typeface="Calibri" pitchFamily="34" charset="-120"/>
              </a:rPr>
              <a:t>Minimum peak spacing at init: +9.21 dB</a:t>
            </a:r>
            <a:endParaRPr lang="en-US" sz="1500" dirty="0"/>
          </a:p>
        </p:txBody>
      </p:sp>
      <p:sp>
        <p:nvSpPr>
          <p:cNvPr id="15" name="Text 13"/>
          <p:cNvSpPr txBox="1"/>
          <p:nvPr/>
        </p:nvSpPr>
        <p:spPr>
          <a:xfrm>
            <a:off x="1325880" y="3995928"/>
            <a:ext cx="9966960" cy="457200"/>
          </a:xfrm>
          <a:prstGeom prst="rect">
            <a:avLst/>
          </a:prstGeom>
          <a:noFill/>
          <a:ln/>
        </p:spPr>
        <p:txBody>
          <a:bodyPr wrap="square" lIns="0" tIns="0" rIns="0" bIns="0" rtlCol="0" anchor="ctr"/>
          <a:lstStyle/>
          <a:p>
            <a:pPr indent="0" marL="0">
              <a:buNone/>
            </a:pPr>
            <a:r>
              <a:rPr lang="en-US" sz="1200" dirty="0">
                <a:solidFill>
                  <a:srgbClr val="6B6258"/>
                </a:solidFill>
                <a:latin typeface="Calibri" pitchFamily="34" charset="0"/>
                <a:ea typeface="Calibri" pitchFamily="34" charset="-122"/>
                <a:cs typeface="Calibri" pitchFamily="34" charset="-120"/>
              </a:rPr>
              <a:t>The largest single lever in the archive. Found later: the spacing is in voxels, and on stretched voxels it does not transfer (Drosophila: 5/29 vs 22/29 human-labelled nuclei found).</a:t>
            </a:r>
            <a:endParaRPr lang="en-US" sz="1200" dirty="0"/>
          </a:p>
        </p:txBody>
      </p:sp>
      <p:sp>
        <p:nvSpPr>
          <p:cNvPr id="16" name="Shape 14"/>
          <p:cNvSpPr/>
          <p:nvPr/>
        </p:nvSpPr>
        <p:spPr>
          <a:xfrm>
            <a:off x="640080" y="4572000"/>
            <a:ext cx="457200" cy="457200"/>
          </a:xfrm>
          <a:prstGeom prst="ellipse">
            <a:avLst/>
          </a:prstGeom>
          <a:solidFill>
            <a:srgbClr val="4F7C93"/>
          </a:solidFill>
          <a:ln/>
        </p:spPr>
      </p:sp>
      <p:sp>
        <p:nvSpPr>
          <p:cNvPr id="17" name="Text 15"/>
          <p:cNvSpPr txBox="1"/>
          <p:nvPr/>
        </p:nvSpPr>
        <p:spPr>
          <a:xfrm>
            <a:off x="640080" y="45720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txBox="1"/>
          <p:nvPr/>
        </p:nvSpPr>
        <p:spPr>
          <a:xfrm>
            <a:off x="1325880" y="4535424"/>
            <a:ext cx="5212080" cy="365760"/>
          </a:xfrm>
          <a:prstGeom prst="rect">
            <a:avLst/>
          </a:prstGeom>
          <a:noFill/>
          <a:ln/>
        </p:spPr>
        <p:txBody>
          <a:bodyPr wrap="square" lIns="0" tIns="0" rIns="0" bIns="0" rtlCol="0" anchor="ctr"/>
          <a:lstStyle/>
          <a:p>
            <a:pPr indent="0" marL="0">
              <a:buNone/>
            </a:pPr>
            <a:r>
              <a:rPr lang="en-US" sz="1500" b="1" dirty="0">
                <a:solidFill>
                  <a:srgbClr val="1A1610"/>
                </a:solidFill>
                <a:latin typeface="Calibri" pitchFamily="34" charset="0"/>
                <a:ea typeface="Calibri" pitchFamily="34" charset="-122"/>
                <a:cs typeface="Calibri" pitchFamily="34" charset="-120"/>
              </a:rPr>
              <a:t>Best observed real-data PSNR: 25.93 dB</a:t>
            </a:r>
            <a:endParaRPr lang="en-US" sz="1500" dirty="0"/>
          </a:p>
        </p:txBody>
      </p:sp>
      <p:sp>
        <p:nvSpPr>
          <p:cNvPr id="19" name="Text 17"/>
          <p:cNvSpPr txBox="1"/>
          <p:nvPr/>
        </p:nvSpPr>
        <p:spPr>
          <a:xfrm>
            <a:off x="1325880" y="4864608"/>
            <a:ext cx="9966960" cy="457200"/>
          </a:xfrm>
          <a:prstGeom prst="rect">
            <a:avLst/>
          </a:prstGeom>
          <a:noFill/>
          <a:ln/>
        </p:spPr>
        <p:txBody>
          <a:bodyPr wrap="square" lIns="0" tIns="0" rIns="0" bIns="0" rtlCol="0" anchor="ctr"/>
          <a:lstStyle/>
          <a:p>
            <a:pPr indent="0" marL="0">
              <a:buNone/>
            </a:pPr>
            <a:r>
              <a:rPr lang="en-US" sz="1200" dirty="0">
                <a:solidFill>
                  <a:srgbClr val="6B6258"/>
                </a:solidFill>
                <a:latin typeface="Calibri" pitchFamily="34" charset="0"/>
                <a:ea typeface="Calibri" pitchFamily="34" charset="-122"/>
                <a:cs typeface="Calibri" pitchFamily="34" charset="-120"/>
              </a:rPr>
              <a:t>750 Gaussians, full 37M-voxel volume. The best value in the archive, not a proven limit, and not like-for-like with our small crops.</a:t>
            </a:r>
            <a:endParaRPr lang="en-US" sz="1200" dirty="0"/>
          </a:p>
        </p:txBody>
      </p:sp>
      <p:sp>
        <p:nvSpPr>
          <p:cNvPr id="20" name="Shape 18"/>
          <p:cNvSpPr/>
          <p:nvPr/>
        </p:nvSpPr>
        <p:spPr>
          <a:xfrm>
            <a:off x="640080" y="5486400"/>
            <a:ext cx="10881360" cy="658368"/>
          </a:xfrm>
          <a:prstGeom prst="rect">
            <a:avLst/>
          </a:prstGeom>
          <a:solidFill>
            <a:srgbClr val="4F7C93">
              <a:alpha val="10000"/>
            </a:srgbClr>
          </a:solidFill>
          <a:ln w="12700">
            <a:solidFill>
              <a:srgbClr val="4F7C93"/>
            </a:solidFill>
            <a:prstDash val="solid"/>
          </a:ln>
        </p:spPr>
      </p:sp>
      <p:sp>
        <p:nvSpPr>
          <p:cNvPr id="21" name="Text 19"/>
          <p:cNvSpPr txBox="1"/>
          <p:nvPr/>
        </p:nvSpPr>
        <p:spPr>
          <a:xfrm>
            <a:off x="868680" y="5559552"/>
            <a:ext cx="10424160" cy="512064"/>
          </a:xfrm>
          <a:prstGeom prst="rect">
            <a:avLst/>
          </a:prstGeom>
          <a:noFill/>
          <a:ln/>
        </p:spPr>
        <p:txBody>
          <a:bodyPr wrap="square" lIns="0" tIns="0" rIns="0" bIns="0" rtlCol="0" anchor="ctr"/>
          <a:lstStyle/>
          <a:p>
            <a:pPr indent="0" marL="0">
              <a:buNone/>
            </a:pPr>
            <a:r>
              <a:rPr lang="en-US" sz="1250" dirty="0">
                <a:solidFill>
                  <a:srgbClr val="463D33"/>
                </a:solidFill>
                <a:latin typeface="Calibri" pitchFamily="34" charset="0"/>
                <a:ea typeface="Calibri" pitchFamily="34" charset="-122"/>
                <a:cs typeface="Calibri" pitchFamily="34" charset="-120"/>
              </a:rPr>
              <a:t>A related archive idea, an anisotropy regularizer, was dropped for costing </a:t>
            </a:r>
            <a:pPr indent="0" marL="0">
              <a:buNone/>
            </a:pPr>
            <a:r>
              <a:rPr lang="en-US" sz="1250" b="1" dirty="0">
                <a:solidFill>
                  <a:srgbClr val="D93B3B"/>
                </a:solidFill>
                <a:latin typeface="Calibri" pitchFamily="34" charset="0"/>
                <a:ea typeface="Calibri" pitchFamily="34" charset="-122"/>
                <a:cs typeface="Calibri" pitchFamily="34" charset="-120"/>
              </a:rPr>
              <a:t>−1.15 dB PSNR</a:t>
            </a:r>
            <a:pPr indent="0" marL="0">
              <a:buNone/>
            </a:pPr>
            <a:r>
              <a:rPr lang="en-US" sz="1250" dirty="0">
                <a:solidFill>
                  <a:srgbClr val="463D33"/>
                </a:solidFill>
                <a:latin typeface="Calibri" pitchFamily="34" charset="0"/>
                <a:ea typeface="Calibri" pitchFamily="34" charset="-122"/>
                <a:cs typeface="Calibri" pitchFamily="34" charset="-120"/>
              </a:rPr>
              <a:t>. Our size cap is a different mechanism (a hard limit on nucleus-seeded Gaussians only); the two were never compared head to head.</a:t>
            </a:r>
            <a:endParaRPr lang="en-US" sz="1250" dirty="0"/>
          </a:p>
        </p:txBody>
      </p:sp>
      <p:sp>
        <p:nvSpPr>
          <p:cNvPr id="22" name="Text 2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6B6258"/>
                </a:solidFill>
                <a:latin typeface="Calibri" pitchFamily="34" charset="0"/>
                <a:ea typeface="Calibri" pitchFamily="34" charset="-122"/>
                <a:cs typeface="Calibri" pitchFamily="34" charset="-120"/>
              </a:rPr>
              <a:t>Tribolium nuclei · 3D Gaussian splatting</a:t>
            </a:r>
            <a:endParaRPr lang="en-US" sz="900" dirty="0"/>
          </a:p>
        </p:txBody>
      </p:sp>
      <p:sp>
        <p:nvSpPr>
          <p:cNvPr id="23" name="Text 21"/>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6B625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731520"/>
          </a:xfrm>
          <a:prstGeom prst="rect">
            <a:avLst/>
          </a:prstGeom>
          <a:noFill/>
          <a:ln/>
        </p:spPr>
        <p:txBody>
          <a:bodyPr wrap="square" lIns="0" tIns="0" rIns="0" bIns="0" rtlCol="0" anchor="ctr"/>
          <a:lstStyle/>
          <a:p>
            <a:pPr indent="0" marL="0">
              <a:buNone/>
            </a:pPr>
            <a:r>
              <a:rPr lang="en-US" sz="3200" b="1" dirty="0">
                <a:solidFill>
                  <a:srgbClr val="1A1610"/>
                </a:solidFill>
                <a:latin typeface="Cambria" pitchFamily="34" charset="0"/>
                <a:ea typeface="Cambria" pitchFamily="34" charset="-122"/>
                <a:cs typeface="Cambria" pitchFamily="34" charset="-120"/>
              </a:rPr>
              <a:t>The Recipe</a:t>
            </a:r>
            <a:endParaRPr lang="en-US" sz="3200" dirty="0"/>
          </a:p>
        </p:txBody>
      </p:sp>
      <p:sp>
        <p:nvSpPr>
          <p:cNvPr id="3" name="Shape 1"/>
          <p:cNvSpPr/>
          <p:nvPr/>
        </p:nvSpPr>
        <p:spPr>
          <a:xfrm>
            <a:off x="640080" y="1554480"/>
            <a:ext cx="502920" cy="502920"/>
          </a:xfrm>
          <a:prstGeom prst="ellipse">
            <a:avLst/>
          </a:prstGeom>
          <a:solidFill>
            <a:srgbClr val="E8973F"/>
          </a:solidFill>
          <a:ln/>
        </p:spPr>
      </p:sp>
      <p:sp>
        <p:nvSpPr>
          <p:cNvPr id="4" name="Text 2"/>
          <p:cNvSpPr txBox="1"/>
          <p:nvPr/>
        </p:nvSpPr>
        <p:spPr>
          <a:xfrm>
            <a:off x="640080" y="15544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1371600" y="1508760"/>
            <a:ext cx="4937760" cy="365760"/>
          </a:xfrm>
          <a:prstGeom prst="rect">
            <a:avLst/>
          </a:prstGeom>
          <a:noFill/>
          <a:ln/>
        </p:spPr>
        <p:txBody>
          <a:bodyPr wrap="square" lIns="0" tIns="0" rIns="0" bIns="0" rtlCol="0" anchor="ctr"/>
          <a:lstStyle/>
          <a:p>
            <a:pPr indent="0" marL="0">
              <a:buNone/>
            </a:pPr>
            <a:r>
              <a:rPr lang="en-US" sz="1600" b="1" dirty="0">
                <a:solidFill>
                  <a:srgbClr val="1A1610"/>
                </a:solidFill>
                <a:latin typeface="Calibri" pitchFamily="34" charset="0"/>
                <a:ea typeface="Calibri" pitchFamily="34" charset="-122"/>
                <a:cs typeface="Calibri" pitchFamily="34" charset="-120"/>
              </a:rPr>
              <a:t>Full anisotropic Gaussians</a:t>
            </a:r>
            <a:endParaRPr lang="en-US" sz="1600" dirty="0"/>
          </a:p>
        </p:txBody>
      </p:sp>
      <p:sp>
        <p:nvSpPr>
          <p:cNvPr id="6" name="Shape 4"/>
          <p:cNvSpPr/>
          <p:nvPr/>
        </p:nvSpPr>
        <p:spPr>
          <a:xfrm>
            <a:off x="9692640" y="1572768"/>
            <a:ext cx="1449324" cy="292608"/>
          </a:xfrm>
          <a:prstGeom prst="roundRect">
            <a:avLst>
              <a:gd name="adj" fmla="val 18750"/>
            </a:avLst>
          </a:prstGeom>
          <a:solidFill>
            <a:srgbClr val="4F7C93">
              <a:alpha val="12000"/>
            </a:srgbClr>
          </a:solidFill>
          <a:ln w="12700">
            <a:solidFill>
              <a:srgbClr val="4F7C93"/>
            </a:solidFill>
            <a:prstDash val="solid"/>
          </a:ln>
        </p:spPr>
      </p:sp>
      <p:sp>
        <p:nvSpPr>
          <p:cNvPr id="7" name="Text 5"/>
          <p:cNvSpPr txBox="1"/>
          <p:nvPr/>
        </p:nvSpPr>
        <p:spPr>
          <a:xfrm>
            <a:off x="9692640" y="1572768"/>
            <a:ext cx="1449324" cy="292608"/>
          </a:xfrm>
          <a:prstGeom prst="rect">
            <a:avLst/>
          </a:prstGeom>
          <a:noFill/>
          <a:ln/>
        </p:spPr>
        <p:txBody>
          <a:bodyPr wrap="square" lIns="0" tIns="0" rIns="0" bIns="0" rtlCol="0" anchor="ctr"/>
          <a:lstStyle/>
          <a:p>
            <a:pPr algn="ctr" indent="0" marL="0">
              <a:buNone/>
            </a:pPr>
            <a:r>
              <a:rPr lang="en-US" sz="950" b="1" dirty="0">
                <a:solidFill>
                  <a:srgbClr val="4F7C93"/>
                </a:solidFill>
                <a:latin typeface="Calibri" pitchFamily="34" charset="0"/>
                <a:ea typeface="Calibri" pitchFamily="34" charset="-122"/>
                <a:cs typeface="Calibri" pitchFamily="34" charset="-120"/>
              </a:rPr>
              <a:t>Colleague</a:t>
            </a:r>
            <a:endParaRPr lang="en-US" sz="950" dirty="0"/>
          </a:p>
        </p:txBody>
      </p:sp>
      <p:sp>
        <p:nvSpPr>
          <p:cNvPr id="8" name="Text 6"/>
          <p:cNvSpPr txBox="1"/>
          <p:nvPr/>
        </p:nvSpPr>
        <p:spPr>
          <a:xfrm>
            <a:off x="1371600" y="1865376"/>
            <a:ext cx="8138160" cy="457200"/>
          </a:xfrm>
          <a:prstGeom prst="rect">
            <a:avLst/>
          </a:prstGeom>
          <a:noFill/>
          <a:ln/>
        </p:spPr>
        <p:txBody>
          <a:bodyPr wrap="square" lIns="0" tIns="0" rIns="0" bIns="0" rtlCol="0" anchor="ctr"/>
          <a:lstStyle/>
          <a:p>
            <a:pPr indent="0" marL="0">
              <a:buNone/>
            </a:pPr>
            <a:r>
              <a:rPr lang="en-US" sz="1300" dirty="0">
                <a:solidFill>
                  <a:srgbClr val="6B6258"/>
                </a:solidFill>
                <a:latin typeface="Calibri" pitchFamily="34" charset="0"/>
                <a:ea typeface="Calibri" pitchFamily="34" charset="-122"/>
                <a:cs typeface="Calibri" pitchFamily="34" charset="-120"/>
              </a:rPr>
              <a:t>Position + 3 independent scales + rotation + brightness. Not spheres.</a:t>
            </a:r>
            <a:endParaRPr lang="en-US" sz="1300" dirty="0"/>
          </a:p>
        </p:txBody>
      </p:sp>
      <p:sp>
        <p:nvSpPr>
          <p:cNvPr id="9" name="Shape 7"/>
          <p:cNvSpPr/>
          <p:nvPr/>
        </p:nvSpPr>
        <p:spPr>
          <a:xfrm>
            <a:off x="640080" y="2331720"/>
            <a:ext cx="10881360" cy="0"/>
          </a:xfrm>
          <a:prstGeom prst="line">
            <a:avLst/>
          </a:prstGeom>
          <a:noFill/>
          <a:ln w="9525">
            <a:solidFill>
              <a:srgbClr val="DDD6CB"/>
            </a:solidFill>
            <a:prstDash val="solid"/>
          </a:ln>
        </p:spPr>
      </p:sp>
      <p:sp>
        <p:nvSpPr>
          <p:cNvPr id="10" name="Shape 8"/>
          <p:cNvSpPr/>
          <p:nvPr/>
        </p:nvSpPr>
        <p:spPr>
          <a:xfrm>
            <a:off x="640080" y="2468880"/>
            <a:ext cx="502920" cy="502920"/>
          </a:xfrm>
          <a:prstGeom prst="ellipse">
            <a:avLst/>
          </a:prstGeom>
          <a:solidFill>
            <a:srgbClr val="E8973F"/>
          </a:solidFill>
          <a:ln/>
        </p:spPr>
      </p:sp>
      <p:sp>
        <p:nvSpPr>
          <p:cNvPr id="11" name="Text 9"/>
          <p:cNvSpPr txBox="1"/>
          <p:nvPr/>
        </p:nvSpPr>
        <p:spPr>
          <a:xfrm>
            <a:off x="640080" y="24688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1371600" y="2423160"/>
            <a:ext cx="4937760" cy="365760"/>
          </a:xfrm>
          <a:prstGeom prst="rect">
            <a:avLst/>
          </a:prstGeom>
          <a:noFill/>
          <a:ln/>
        </p:spPr>
        <p:txBody>
          <a:bodyPr wrap="square" lIns="0" tIns="0" rIns="0" bIns="0" rtlCol="0" anchor="ctr"/>
          <a:lstStyle/>
          <a:p>
            <a:pPr indent="0" marL="0">
              <a:buNone/>
            </a:pPr>
            <a:r>
              <a:rPr lang="en-US" sz="1600" b="1" dirty="0">
                <a:solidFill>
                  <a:srgbClr val="1A1610"/>
                </a:solidFill>
                <a:latin typeface="Calibri" pitchFamily="34" charset="0"/>
                <a:ea typeface="Calibri" pitchFamily="34" charset="-122"/>
                <a:cs typeface="Calibri" pitchFamily="34" charset="-120"/>
              </a:rPr>
              <a:t>Seed on detected nuclei first</a:t>
            </a:r>
            <a:endParaRPr lang="en-US" sz="1600" dirty="0"/>
          </a:p>
        </p:txBody>
      </p:sp>
      <p:sp>
        <p:nvSpPr>
          <p:cNvPr id="13" name="Shape 11"/>
          <p:cNvSpPr/>
          <p:nvPr/>
        </p:nvSpPr>
        <p:spPr>
          <a:xfrm>
            <a:off x="9692640" y="2487168"/>
            <a:ext cx="786384" cy="292608"/>
          </a:xfrm>
          <a:prstGeom prst="roundRect">
            <a:avLst>
              <a:gd name="adj" fmla="val 18750"/>
            </a:avLst>
          </a:prstGeom>
          <a:solidFill>
            <a:srgbClr val="6B6258">
              <a:alpha val="12000"/>
            </a:srgbClr>
          </a:solidFill>
          <a:ln w="12700">
            <a:solidFill>
              <a:srgbClr val="6B6258"/>
            </a:solidFill>
            <a:prstDash val="solid"/>
          </a:ln>
        </p:spPr>
      </p:sp>
      <p:sp>
        <p:nvSpPr>
          <p:cNvPr id="14" name="Text 12"/>
          <p:cNvSpPr txBox="1"/>
          <p:nvPr/>
        </p:nvSpPr>
        <p:spPr>
          <a:xfrm>
            <a:off x="9692640" y="2487168"/>
            <a:ext cx="786384" cy="292608"/>
          </a:xfrm>
          <a:prstGeom prst="rect">
            <a:avLst/>
          </a:prstGeom>
          <a:noFill/>
          <a:ln/>
        </p:spPr>
        <p:txBody>
          <a:bodyPr wrap="square" lIns="0" tIns="0" rIns="0" bIns="0" rtlCol="0" anchor="ctr"/>
          <a:lstStyle/>
          <a:p>
            <a:pPr algn="ctr" indent="0" marL="0">
              <a:buNone/>
            </a:pPr>
            <a:r>
              <a:rPr lang="en-US" sz="950" b="1" dirty="0">
                <a:solidFill>
                  <a:srgbClr val="6B6258"/>
                </a:solidFill>
                <a:latin typeface="Calibri" pitchFamily="34" charset="0"/>
                <a:ea typeface="Calibri" pitchFamily="34" charset="-122"/>
                <a:cs typeface="Calibri" pitchFamily="34" charset="-120"/>
              </a:rPr>
              <a:t>Both</a:t>
            </a:r>
            <a:endParaRPr lang="en-US" sz="950" dirty="0"/>
          </a:p>
        </p:txBody>
      </p:sp>
      <p:sp>
        <p:nvSpPr>
          <p:cNvPr id="15" name="Text 13"/>
          <p:cNvSpPr txBox="1"/>
          <p:nvPr/>
        </p:nvSpPr>
        <p:spPr>
          <a:xfrm>
            <a:off x="1371600" y="2779776"/>
            <a:ext cx="8138160" cy="457200"/>
          </a:xfrm>
          <a:prstGeom prst="rect">
            <a:avLst/>
          </a:prstGeom>
          <a:noFill/>
          <a:ln/>
        </p:spPr>
        <p:txBody>
          <a:bodyPr wrap="square" lIns="0" tIns="0" rIns="0" bIns="0" rtlCol="0" anchor="ctr"/>
          <a:lstStyle/>
          <a:p>
            <a:pPr indent="0" marL="0">
              <a:buNone/>
            </a:pPr>
            <a:r>
              <a:rPr lang="en-US" sz="1300" dirty="0">
                <a:solidFill>
                  <a:srgbClr val="6B6258"/>
                </a:solidFill>
                <a:latin typeface="Calibri" pitchFamily="34" charset="0"/>
                <a:ea typeface="Calibri" pitchFamily="34" charset="-122"/>
                <a:cs typeface="Calibri" pitchFamily="34" charset="-120"/>
              </a:rPr>
              <a:t>One Gaussian per detected nucleus before spending any budget on background.</a:t>
            </a:r>
            <a:endParaRPr lang="en-US" sz="1300" dirty="0"/>
          </a:p>
        </p:txBody>
      </p:sp>
      <p:sp>
        <p:nvSpPr>
          <p:cNvPr id="16" name="Shape 14"/>
          <p:cNvSpPr/>
          <p:nvPr/>
        </p:nvSpPr>
        <p:spPr>
          <a:xfrm>
            <a:off x="640080" y="3246120"/>
            <a:ext cx="10881360" cy="0"/>
          </a:xfrm>
          <a:prstGeom prst="line">
            <a:avLst/>
          </a:prstGeom>
          <a:noFill/>
          <a:ln w="9525">
            <a:solidFill>
              <a:srgbClr val="DDD6CB"/>
            </a:solidFill>
            <a:prstDash val="solid"/>
          </a:ln>
        </p:spPr>
      </p:sp>
      <p:sp>
        <p:nvSpPr>
          <p:cNvPr id="17" name="Shape 15"/>
          <p:cNvSpPr/>
          <p:nvPr/>
        </p:nvSpPr>
        <p:spPr>
          <a:xfrm>
            <a:off x="640080" y="3383280"/>
            <a:ext cx="502920" cy="502920"/>
          </a:xfrm>
          <a:prstGeom prst="ellipse">
            <a:avLst/>
          </a:prstGeom>
          <a:solidFill>
            <a:srgbClr val="E8973F"/>
          </a:solidFill>
          <a:ln/>
        </p:spPr>
      </p:sp>
      <p:sp>
        <p:nvSpPr>
          <p:cNvPr id="18" name="Text 16"/>
          <p:cNvSpPr txBox="1"/>
          <p:nvPr/>
        </p:nvSpPr>
        <p:spPr>
          <a:xfrm>
            <a:off x="640080" y="33832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7"/>
          <p:cNvSpPr txBox="1"/>
          <p:nvPr/>
        </p:nvSpPr>
        <p:spPr>
          <a:xfrm>
            <a:off x="1371600" y="3337560"/>
            <a:ext cx="4937760" cy="365760"/>
          </a:xfrm>
          <a:prstGeom prst="rect">
            <a:avLst/>
          </a:prstGeom>
          <a:noFill/>
          <a:ln/>
        </p:spPr>
        <p:txBody>
          <a:bodyPr wrap="square" lIns="0" tIns="0" rIns="0" bIns="0" rtlCol="0" anchor="ctr"/>
          <a:lstStyle/>
          <a:p>
            <a:pPr indent="0" marL="0">
              <a:buNone/>
            </a:pPr>
            <a:r>
              <a:rPr lang="en-US" sz="1600" b="1" dirty="0">
                <a:solidFill>
                  <a:srgbClr val="1A1610"/>
                </a:solidFill>
                <a:latin typeface="Calibri" pitchFamily="34" charset="0"/>
                <a:ea typeface="Calibri" pitchFamily="34" charset="-122"/>
                <a:cs typeface="Calibri" pitchFamily="34" charset="-120"/>
              </a:rPr>
              <a:t>Raise the position learning rate, only for poor seeds</a:t>
            </a:r>
            <a:endParaRPr lang="en-US" sz="1600" dirty="0"/>
          </a:p>
        </p:txBody>
      </p:sp>
      <p:sp>
        <p:nvSpPr>
          <p:cNvPr id="20" name="Shape 18"/>
          <p:cNvSpPr/>
          <p:nvPr/>
        </p:nvSpPr>
        <p:spPr>
          <a:xfrm>
            <a:off x="9692640" y="3401568"/>
            <a:ext cx="1449324" cy="292608"/>
          </a:xfrm>
          <a:prstGeom prst="roundRect">
            <a:avLst>
              <a:gd name="adj" fmla="val 18750"/>
            </a:avLst>
          </a:prstGeom>
          <a:solidFill>
            <a:srgbClr val="E8973F">
              <a:alpha val="12000"/>
            </a:srgbClr>
          </a:solidFill>
          <a:ln w="12700">
            <a:solidFill>
              <a:srgbClr val="E8973F"/>
            </a:solidFill>
            <a:prstDash val="solid"/>
          </a:ln>
        </p:spPr>
      </p:sp>
      <p:sp>
        <p:nvSpPr>
          <p:cNvPr id="21" name="Text 19"/>
          <p:cNvSpPr txBox="1"/>
          <p:nvPr/>
        </p:nvSpPr>
        <p:spPr>
          <a:xfrm>
            <a:off x="9692640" y="3401568"/>
            <a:ext cx="1449324" cy="292608"/>
          </a:xfrm>
          <a:prstGeom prst="rect">
            <a:avLst/>
          </a:prstGeom>
          <a:noFill/>
          <a:ln/>
        </p:spPr>
        <p:txBody>
          <a:bodyPr wrap="square" lIns="0" tIns="0" rIns="0" bIns="0" rtlCol="0" anchor="ctr"/>
          <a:lstStyle/>
          <a:p>
            <a:pPr algn="ctr" indent="0" marL="0">
              <a:buNone/>
            </a:pPr>
            <a:r>
              <a:rPr lang="en-US" sz="950" b="1" dirty="0">
                <a:solidFill>
                  <a:srgbClr val="E8973F"/>
                </a:solidFill>
                <a:latin typeface="Calibri" pitchFamily="34" charset="0"/>
                <a:ea typeface="Calibri" pitchFamily="34" charset="-122"/>
                <a:cs typeface="Calibri" pitchFamily="34" charset="-120"/>
              </a:rPr>
              <a:t>This work</a:t>
            </a:r>
            <a:endParaRPr lang="en-US" sz="950" dirty="0"/>
          </a:p>
        </p:txBody>
      </p:sp>
      <p:sp>
        <p:nvSpPr>
          <p:cNvPr id="22" name="Text 20"/>
          <p:cNvSpPr txBox="1"/>
          <p:nvPr/>
        </p:nvSpPr>
        <p:spPr>
          <a:xfrm>
            <a:off x="1371600" y="3694176"/>
            <a:ext cx="8138160" cy="457200"/>
          </a:xfrm>
          <a:prstGeom prst="rect">
            <a:avLst/>
          </a:prstGeom>
          <a:noFill/>
          <a:ln/>
        </p:spPr>
        <p:txBody>
          <a:bodyPr wrap="square" lIns="0" tIns="0" rIns="0" bIns="0" rtlCol="0" anchor="ctr"/>
          <a:lstStyle/>
          <a:p>
            <a:pPr indent="0" marL="0">
              <a:buNone/>
            </a:pPr>
            <a:r>
              <a:rPr lang="en-US" sz="1300" dirty="0">
                <a:solidFill>
                  <a:srgbClr val="6B6258"/>
                </a:solidFill>
                <a:latin typeface="Calibri" pitchFamily="34" charset="0"/>
                <a:ea typeface="Calibri" pitchFamily="34" charset="-122"/>
                <a:cs typeface="Calibri" pitchFamily="34" charset="-120"/>
              </a:rPr>
              <a:t>Lets badly placed blobs travel to a nucleus. With good seeds it hurt (Drosophila: 21 → 18.3 of 29 in the top 200).</a:t>
            </a:r>
            <a:endParaRPr lang="en-US" sz="1300" dirty="0"/>
          </a:p>
        </p:txBody>
      </p:sp>
      <p:sp>
        <p:nvSpPr>
          <p:cNvPr id="23" name="Shape 21"/>
          <p:cNvSpPr/>
          <p:nvPr/>
        </p:nvSpPr>
        <p:spPr>
          <a:xfrm>
            <a:off x="640080" y="4160520"/>
            <a:ext cx="10881360" cy="0"/>
          </a:xfrm>
          <a:prstGeom prst="line">
            <a:avLst/>
          </a:prstGeom>
          <a:noFill/>
          <a:ln w="9525">
            <a:solidFill>
              <a:srgbClr val="DDD6CB"/>
            </a:solidFill>
            <a:prstDash val="solid"/>
          </a:ln>
        </p:spPr>
      </p:sp>
      <p:sp>
        <p:nvSpPr>
          <p:cNvPr id="24" name="Shape 22"/>
          <p:cNvSpPr/>
          <p:nvPr/>
        </p:nvSpPr>
        <p:spPr>
          <a:xfrm>
            <a:off x="640080" y="4297680"/>
            <a:ext cx="502920" cy="502920"/>
          </a:xfrm>
          <a:prstGeom prst="ellipse">
            <a:avLst/>
          </a:prstGeom>
          <a:solidFill>
            <a:srgbClr val="E8973F"/>
          </a:solidFill>
          <a:ln/>
        </p:spPr>
      </p:sp>
      <p:sp>
        <p:nvSpPr>
          <p:cNvPr id="25" name="Text 23"/>
          <p:cNvSpPr txBox="1"/>
          <p:nvPr/>
        </p:nvSpPr>
        <p:spPr>
          <a:xfrm>
            <a:off x="640080" y="42976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6" name="Text 24"/>
          <p:cNvSpPr txBox="1"/>
          <p:nvPr/>
        </p:nvSpPr>
        <p:spPr>
          <a:xfrm>
            <a:off x="1371600" y="4251960"/>
            <a:ext cx="4937760" cy="365760"/>
          </a:xfrm>
          <a:prstGeom prst="rect">
            <a:avLst/>
          </a:prstGeom>
          <a:noFill/>
          <a:ln/>
        </p:spPr>
        <p:txBody>
          <a:bodyPr wrap="square" lIns="0" tIns="0" rIns="0" bIns="0" rtlCol="0" anchor="ctr"/>
          <a:lstStyle/>
          <a:p>
            <a:pPr indent="0" marL="0">
              <a:buNone/>
            </a:pPr>
            <a:r>
              <a:rPr lang="en-US" sz="1600" b="1" dirty="0">
                <a:solidFill>
                  <a:srgbClr val="1A1610"/>
                </a:solidFill>
                <a:latin typeface="Calibri" pitchFamily="34" charset="0"/>
                <a:ea typeface="Calibri" pitchFamily="34" charset="-122"/>
                <a:cs typeface="Calibri" pitchFamily="34" charset="-120"/>
              </a:rPr>
              <a:t>Cap nucleus-Gaussian size</a:t>
            </a:r>
            <a:endParaRPr lang="en-US" sz="1600" dirty="0"/>
          </a:p>
        </p:txBody>
      </p:sp>
      <p:sp>
        <p:nvSpPr>
          <p:cNvPr id="27" name="Shape 25"/>
          <p:cNvSpPr/>
          <p:nvPr/>
        </p:nvSpPr>
        <p:spPr>
          <a:xfrm>
            <a:off x="9692640" y="4315968"/>
            <a:ext cx="1449324" cy="292608"/>
          </a:xfrm>
          <a:prstGeom prst="roundRect">
            <a:avLst>
              <a:gd name="adj" fmla="val 18750"/>
            </a:avLst>
          </a:prstGeom>
          <a:solidFill>
            <a:srgbClr val="E8973F">
              <a:alpha val="12000"/>
            </a:srgbClr>
          </a:solidFill>
          <a:ln w="12700">
            <a:solidFill>
              <a:srgbClr val="E8973F"/>
            </a:solidFill>
            <a:prstDash val="solid"/>
          </a:ln>
        </p:spPr>
      </p:sp>
      <p:sp>
        <p:nvSpPr>
          <p:cNvPr id="28" name="Text 26"/>
          <p:cNvSpPr txBox="1"/>
          <p:nvPr/>
        </p:nvSpPr>
        <p:spPr>
          <a:xfrm>
            <a:off x="9692640" y="4315968"/>
            <a:ext cx="1449324" cy="292608"/>
          </a:xfrm>
          <a:prstGeom prst="rect">
            <a:avLst/>
          </a:prstGeom>
          <a:noFill/>
          <a:ln/>
        </p:spPr>
        <p:txBody>
          <a:bodyPr wrap="square" lIns="0" tIns="0" rIns="0" bIns="0" rtlCol="0" anchor="ctr"/>
          <a:lstStyle/>
          <a:p>
            <a:pPr algn="ctr" indent="0" marL="0">
              <a:buNone/>
            </a:pPr>
            <a:r>
              <a:rPr lang="en-US" sz="950" b="1" dirty="0">
                <a:solidFill>
                  <a:srgbClr val="E8973F"/>
                </a:solidFill>
                <a:latin typeface="Calibri" pitchFamily="34" charset="0"/>
                <a:ea typeface="Calibri" pitchFamily="34" charset="-122"/>
                <a:cs typeface="Calibri" pitchFamily="34" charset="-120"/>
              </a:rPr>
              <a:t>This work</a:t>
            </a:r>
            <a:endParaRPr lang="en-US" sz="950" dirty="0"/>
          </a:p>
        </p:txBody>
      </p:sp>
      <p:sp>
        <p:nvSpPr>
          <p:cNvPr id="29" name="Text 27"/>
          <p:cNvSpPr txBox="1"/>
          <p:nvPr/>
        </p:nvSpPr>
        <p:spPr>
          <a:xfrm>
            <a:off x="1371600" y="4608576"/>
            <a:ext cx="8138160" cy="457200"/>
          </a:xfrm>
          <a:prstGeom prst="rect">
            <a:avLst/>
          </a:prstGeom>
          <a:noFill/>
          <a:ln/>
        </p:spPr>
        <p:txBody>
          <a:bodyPr wrap="square" lIns="0" tIns="0" rIns="0" bIns="0" rtlCol="0" anchor="ctr"/>
          <a:lstStyle/>
          <a:p>
            <a:pPr indent="0" marL="0">
              <a:buNone/>
            </a:pPr>
            <a:r>
              <a:rPr lang="en-US" sz="1300" dirty="0">
                <a:solidFill>
                  <a:srgbClr val="6B6258"/>
                </a:solidFill>
                <a:latin typeface="Calibri" pitchFamily="34" charset="0"/>
                <a:ea typeface="Calibri" pitchFamily="34" charset="-122"/>
                <a:cs typeface="Calibri" pitchFamily="34" charset="-120"/>
              </a:rPr>
              <a:t>Tested alone, default learning rate: +6 faint Tribolium nuclei (4 regions, 1 seed). On Drosophila it touched 2% of blobs and changed nothing.</a:t>
            </a:r>
            <a:endParaRPr lang="en-US" sz="1300" dirty="0"/>
          </a:p>
        </p:txBody>
      </p:sp>
      <p:sp>
        <p:nvSpPr>
          <p:cNvPr id="30" name="Shape 28"/>
          <p:cNvSpPr/>
          <p:nvPr/>
        </p:nvSpPr>
        <p:spPr>
          <a:xfrm>
            <a:off x="640080" y="5074920"/>
            <a:ext cx="10881360" cy="0"/>
          </a:xfrm>
          <a:prstGeom prst="line">
            <a:avLst/>
          </a:prstGeom>
          <a:noFill/>
          <a:ln w="9525">
            <a:solidFill>
              <a:srgbClr val="DDD6CB"/>
            </a:solidFill>
            <a:prstDash val="solid"/>
          </a:ln>
        </p:spPr>
      </p:sp>
      <p:sp>
        <p:nvSpPr>
          <p:cNvPr id="31" name="Shape 29"/>
          <p:cNvSpPr/>
          <p:nvPr/>
        </p:nvSpPr>
        <p:spPr>
          <a:xfrm>
            <a:off x="640080" y="5212080"/>
            <a:ext cx="502920" cy="502920"/>
          </a:xfrm>
          <a:prstGeom prst="ellipse">
            <a:avLst/>
          </a:prstGeom>
          <a:solidFill>
            <a:srgbClr val="E8973F"/>
          </a:solidFill>
          <a:ln/>
        </p:spPr>
      </p:sp>
      <p:sp>
        <p:nvSpPr>
          <p:cNvPr id="32" name="Text 30"/>
          <p:cNvSpPr txBox="1"/>
          <p:nvPr/>
        </p:nvSpPr>
        <p:spPr>
          <a:xfrm>
            <a:off x="640080" y="52120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33" name="Text 31"/>
          <p:cNvSpPr txBox="1"/>
          <p:nvPr/>
        </p:nvSpPr>
        <p:spPr>
          <a:xfrm>
            <a:off x="1371600" y="5166360"/>
            <a:ext cx="4937760" cy="365760"/>
          </a:xfrm>
          <a:prstGeom prst="rect">
            <a:avLst/>
          </a:prstGeom>
          <a:noFill/>
          <a:ln/>
        </p:spPr>
        <p:txBody>
          <a:bodyPr wrap="square" lIns="0" tIns="0" rIns="0" bIns="0" rtlCol="0" anchor="ctr"/>
          <a:lstStyle/>
          <a:p>
            <a:pPr indent="0" marL="0">
              <a:buNone/>
            </a:pPr>
            <a:r>
              <a:rPr lang="en-US" sz="1600" b="1" dirty="0">
                <a:solidFill>
                  <a:srgbClr val="1A1610"/>
                </a:solidFill>
                <a:latin typeface="Calibri" pitchFamily="34" charset="0"/>
                <a:ea typeface="Calibri" pitchFamily="34" charset="-122"/>
                <a:cs typeface="Calibri" pitchFamily="34" charset="-120"/>
              </a:rPr>
              <a:t>250 Gaussians, 3000 steps</a:t>
            </a:r>
            <a:endParaRPr lang="en-US" sz="1600" dirty="0"/>
          </a:p>
        </p:txBody>
      </p:sp>
      <p:sp>
        <p:nvSpPr>
          <p:cNvPr id="34" name="Shape 32"/>
          <p:cNvSpPr/>
          <p:nvPr/>
        </p:nvSpPr>
        <p:spPr>
          <a:xfrm>
            <a:off x="9692640" y="5230368"/>
            <a:ext cx="1449324" cy="292608"/>
          </a:xfrm>
          <a:prstGeom prst="roundRect">
            <a:avLst>
              <a:gd name="adj" fmla="val 18750"/>
            </a:avLst>
          </a:prstGeom>
          <a:solidFill>
            <a:srgbClr val="4F7C93">
              <a:alpha val="12000"/>
            </a:srgbClr>
          </a:solidFill>
          <a:ln w="12700">
            <a:solidFill>
              <a:srgbClr val="4F7C93"/>
            </a:solidFill>
            <a:prstDash val="solid"/>
          </a:ln>
        </p:spPr>
      </p:sp>
      <p:sp>
        <p:nvSpPr>
          <p:cNvPr id="35" name="Text 33"/>
          <p:cNvSpPr txBox="1"/>
          <p:nvPr/>
        </p:nvSpPr>
        <p:spPr>
          <a:xfrm>
            <a:off x="9692640" y="5230368"/>
            <a:ext cx="1449324" cy="292608"/>
          </a:xfrm>
          <a:prstGeom prst="rect">
            <a:avLst/>
          </a:prstGeom>
          <a:noFill/>
          <a:ln/>
        </p:spPr>
        <p:txBody>
          <a:bodyPr wrap="square" lIns="0" tIns="0" rIns="0" bIns="0" rtlCol="0" anchor="ctr"/>
          <a:lstStyle/>
          <a:p>
            <a:pPr algn="ctr" indent="0" marL="0">
              <a:buNone/>
            </a:pPr>
            <a:r>
              <a:rPr lang="en-US" sz="950" b="1" dirty="0">
                <a:solidFill>
                  <a:srgbClr val="4F7C93"/>
                </a:solidFill>
                <a:latin typeface="Calibri" pitchFamily="34" charset="0"/>
                <a:ea typeface="Calibri" pitchFamily="34" charset="-122"/>
                <a:cs typeface="Calibri" pitchFamily="34" charset="-120"/>
              </a:rPr>
              <a:t>Colleague</a:t>
            </a:r>
            <a:endParaRPr lang="en-US" sz="950" dirty="0"/>
          </a:p>
        </p:txBody>
      </p:sp>
      <p:sp>
        <p:nvSpPr>
          <p:cNvPr id="36" name="Text 34"/>
          <p:cNvSpPr txBox="1"/>
          <p:nvPr/>
        </p:nvSpPr>
        <p:spPr>
          <a:xfrm>
            <a:off x="1371600" y="5522976"/>
            <a:ext cx="8138160" cy="457200"/>
          </a:xfrm>
          <a:prstGeom prst="rect">
            <a:avLst/>
          </a:prstGeom>
          <a:noFill/>
          <a:ln/>
        </p:spPr>
        <p:txBody>
          <a:bodyPr wrap="square" lIns="0" tIns="0" rIns="0" bIns="0" rtlCol="0" anchor="ctr"/>
          <a:lstStyle/>
          <a:p>
            <a:pPr indent="0" marL="0">
              <a:buNone/>
            </a:pPr>
            <a:r>
              <a:rPr lang="en-US" sz="1300" dirty="0">
                <a:solidFill>
                  <a:srgbClr val="6B6258"/>
                </a:solidFill>
                <a:latin typeface="Calibri" pitchFamily="34" charset="0"/>
                <a:ea typeface="Calibri" pitchFamily="34" charset="-122"/>
                <a:cs typeface="Calibri" pitchFamily="34" charset="-120"/>
              </a:rPr>
              <a:t>No need for thousands — this budget is enough for a ~24-nucleus region.</a:t>
            </a:r>
            <a:endParaRPr lang="en-US" sz="1300" dirty="0"/>
          </a:p>
        </p:txBody>
      </p:sp>
      <p:sp>
        <p:nvSpPr>
          <p:cNvPr id="37" name="Text 35"/>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6B6258"/>
                </a:solidFill>
                <a:latin typeface="Calibri" pitchFamily="34" charset="0"/>
                <a:ea typeface="Calibri" pitchFamily="34" charset="-122"/>
                <a:cs typeface="Calibri" pitchFamily="34" charset="-120"/>
              </a:rPr>
              <a:t>Tribolium nuclei · 3D Gaussian splatting</a:t>
            </a:r>
            <a:endParaRPr lang="en-US" sz="900" dirty="0"/>
          </a:p>
        </p:txBody>
      </p:sp>
      <p:sp>
        <p:nvSpPr>
          <p:cNvPr id="38" name="Text 36"/>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6B6258"/>
                </a:solidFill>
                <a:latin typeface="Calibri" pitchFamily="34" charset="0"/>
                <a:ea typeface="Calibri" pitchFamily="34" charset="-122"/>
                <a:cs typeface="Calibri" pitchFamily="34" charset="-120"/>
              </a:rPr>
              <a:t>4</a:t>
            </a:r>
            <a:endParaRPr lang="en-US" sz="900" dirty="0"/>
          </a:p>
        </p:txBody>
      </p:sp>
      <p:sp>
        <p:nvSpPr>
          <p:cNvPr id="39" name="TextBox 38"/>
          <p:cNvSpPr txBox="1"/>
          <p:nvPr/>
        </p:nvSpPr>
        <p:spPr>
          <a:xfrm>
            <a:off x="640080" y="1069848"/>
            <a:ext cx="10881360" cy="320040"/>
          </a:xfrm>
          <a:prstGeom prst="rect">
            <a:avLst/>
          </a:prstGeom>
          <a:noFill/>
        </p:spPr>
        <p:txBody>
          <a:bodyPr wrap="square">
            <a:spAutoFit/>
          </a:bodyPr>
          <a:lstStyle/>
          <a:p>
            <a:r>
              <a:rPr sz="1200" b="0">
                <a:solidFill>
                  <a:srgbClr val="6B6258"/>
                </a:solidFill>
                <a:latin typeface="Calibri"/>
              </a:rPr>
              <a:t>Each step was tested on its own. Steps 3 and 4 together were tested once, on Drosophila (slide 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731520"/>
          </a:xfrm>
          <a:prstGeom prst="rect">
            <a:avLst/>
          </a:prstGeom>
          <a:noFill/>
          <a:ln/>
        </p:spPr>
        <p:txBody>
          <a:bodyPr wrap="square" lIns="0" tIns="0" rIns="0" bIns="0" rtlCol="0" anchor="ctr"/>
          <a:lstStyle/>
          <a:p>
            <a:pPr indent="0" marL="0">
              <a:buNone/>
            </a:pPr>
            <a:r>
              <a:rPr lang="en-US" sz="3200" b="1" dirty="0">
                <a:solidFill>
                  <a:srgbClr val="1A1610"/>
                </a:solidFill>
                <a:latin typeface="Cambria" pitchFamily="34" charset="0"/>
                <a:ea typeface="Cambria" pitchFamily="34" charset="-122"/>
                <a:cs typeface="Cambria" pitchFamily="34" charset="-120"/>
              </a:rPr>
              <a:t>Real Data, Real Reconstruction</a:t>
            </a:r>
            <a:endParaRPr lang="en-US" sz="3200" dirty="0"/>
          </a:p>
        </p:txBody>
      </p:sp>
      <p:pic>
        <p:nvPicPr>
          <p:cNvPr id="3" name="Image 0" descr="E:/masters/MLCV seminar/TeamProject/runs/real_proof/target_vs_recon_marked.png">    </p:cNvPr>
          <p:cNvPicPr>
            <a:picLocks noChangeAspect="1"/>
          </p:cNvPicPr>
          <p:nvPr/>
        </p:nvPicPr>
        <p:blipFill>
          <a:blip r:embed="rId1"/>
          <a:stretch>
            <a:fillRect/>
          </a:stretch>
        </p:blipFill>
        <p:spPr>
          <a:xfrm>
            <a:off x="655168" y="1371600"/>
            <a:ext cx="10881360" cy="3827594"/>
          </a:xfrm>
          <a:prstGeom prst="rect">
            <a:avLst/>
          </a:prstGeom>
        </p:spPr>
      </p:pic>
      <p:sp>
        <p:nvSpPr>
          <p:cNvPr id="4" name="Text 1"/>
          <p:cNvSpPr txBox="1"/>
          <p:nvPr/>
        </p:nvSpPr>
        <p:spPr>
          <a:xfrm>
            <a:off x="640080" y="5336354"/>
            <a:ext cx="10881360" cy="365760"/>
          </a:xfrm>
          <a:prstGeom prst="rect">
            <a:avLst/>
          </a:prstGeom>
          <a:noFill/>
          <a:ln/>
        </p:spPr>
        <p:txBody>
          <a:bodyPr wrap="square" lIns="0" tIns="0" rIns="0" bIns="0" rtlCol="0" anchor="ctr"/>
          <a:lstStyle/>
          <a:p>
            <a:pPr indent="0" marL="0">
              <a:buNone/>
            </a:pPr>
            <a:r>
              <a:rPr lang="en-US" sz="1200" dirty="0">
                <a:solidFill>
                  <a:srgbClr val="463D33"/>
                </a:solidFill>
                <a:latin typeface="Calibri" pitchFamily="34" charset="0"/>
                <a:ea typeface="Calibri" pitchFamily="34" charset="-122"/>
                <a:cs typeface="Calibri" pitchFamily="34" charset="-120"/>
              </a:rPr>
              <a:t>Real Tribolium crop (Lund, 64×128×128), 24 detector-found reference nuclei  ·  </a:t>
            </a:r>
            <a:pPr indent="0" marL="0">
              <a:buNone/>
            </a:pPr>
            <a:r>
              <a:rPr lang="en-US" sz="1200" b="1" dirty="0">
                <a:solidFill>
                  <a:srgbClr val="E8973F"/>
                </a:solidFill>
                <a:latin typeface="Calibri" pitchFamily="34" charset="0"/>
                <a:ea typeface="Calibri" pitchFamily="34" charset="-122"/>
                <a:cs typeface="Calibri" pitchFamily="34" charset="-120"/>
              </a:rPr>
              <a:t>PSNR 25.71 dB</a:t>
            </a:r>
            <a:pPr indent="0" marL="0">
              <a:buNone/>
            </a:pPr>
            <a:r>
              <a:rPr lang="en-US" sz="1200" dirty="0">
                <a:solidFill>
                  <a:srgbClr val="463D33"/>
                </a:solidFill>
                <a:latin typeface="Calibri" pitchFamily="34" charset="0"/>
                <a:ea typeface="Calibri" pitchFamily="34" charset="-122"/>
                <a:cs typeface="Calibri" pitchFamily="34" charset="-120"/>
              </a:rPr>
              <a:t>  ·  </a:t>
            </a:r>
            <a:pPr indent="0" marL="0">
              <a:buNone/>
            </a:pPr>
            <a:r>
              <a:rPr lang="en-US" sz="1200" b="1" dirty="0">
                <a:solidFill>
                  <a:srgbClr val="2CA02C"/>
                </a:solidFill>
                <a:latin typeface="Calibri" pitchFamily="34" charset="0"/>
                <a:ea typeface="Calibri" pitchFamily="34" charset="-122"/>
                <a:cs typeface="Calibri" pitchFamily="34" charset="-120"/>
              </a:rPr>
              <a:t>20/24 recovered</a:t>
            </a:r>
            <a:pPr indent="0" marL="0">
              <a:buNone/>
            </a:pPr>
            <a:r>
              <a:rPr lang="en-US" sz="1200" dirty="0">
                <a:solidFill>
                  <a:srgbClr val="463D33"/>
                </a:solidFill>
                <a:latin typeface="Calibri" pitchFamily="34" charset="0"/>
                <a:ea typeface="Calibri" pitchFamily="34" charset="-122"/>
                <a:cs typeface="Calibri" pitchFamily="34" charset="-120"/>
              </a:rPr>
              <a:t>  ·  green = recovered, red = missed</a:t>
            </a:r>
            <a:endParaRPr lang="en-US" sz="1300" dirty="0"/>
          </a:p>
        </p:txBody>
      </p:sp>
      <p:sp>
        <p:nvSpPr>
          <p:cNvPr id="5" name="Text 2"/>
          <p:cNvSpPr txBox="1"/>
          <p:nvPr/>
        </p:nvSpPr>
        <p:spPr>
          <a:xfrm>
            <a:off x="640080" y="5674682"/>
            <a:ext cx="10881360" cy="640080"/>
          </a:xfrm>
          <a:prstGeom prst="rect">
            <a:avLst/>
          </a:prstGeom>
          <a:noFill/>
          <a:ln/>
        </p:spPr>
        <p:txBody>
          <a:bodyPr wrap="square" lIns="0" tIns="0" rIns="0" bIns="0" rtlCol="0" anchor="ctr"/>
          <a:lstStyle/>
          <a:p>
            <a:pPr indent="0" marL="0">
              <a:buNone/>
            </a:pPr>
            <a:r>
              <a:rPr lang="en-US" sz="1150" i="1" dirty="0">
                <a:solidFill>
                  <a:srgbClr val="6B6258"/>
                </a:solidFill>
                <a:latin typeface="Calibri" pitchFamily="34" charset="0"/>
                <a:ea typeface="Calibri" pitchFamily="34" charset="-122"/>
                <a:cs typeface="Calibri" pitchFamily="34" charset="-120"/>
              </a:rPr>
              <a:t>References come from a peak detector, not from a human. Voxels 3.0 × 0.69 × 0.69 µm (z, y, x); a match is within 9.9 voxels (≈6.9 µm in xy, ≈30 µm in z). The reconstruction is visibly smoother than the real tissue.</a:t>
            </a:r>
            <a:endParaRPr lang="en-US" sz="1150" dirty="0"/>
          </a:p>
        </p:txBody>
      </p:sp>
      <p:sp>
        <p:nvSpPr>
          <p:cNvPr id="6" name="Text 3"/>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6B6258"/>
                </a:solidFill>
                <a:latin typeface="Calibri" pitchFamily="34" charset="0"/>
                <a:ea typeface="Calibri" pitchFamily="34" charset="-122"/>
                <a:cs typeface="Calibri" pitchFamily="34" charset="-120"/>
              </a:rPr>
              <a:t>Tribolium nuclei · 3D Gaussian splatting</a:t>
            </a:r>
            <a:endParaRPr lang="en-US" sz="900" dirty="0"/>
          </a:p>
        </p:txBody>
      </p:sp>
      <p:sp>
        <p:nvSpPr>
          <p:cNvPr id="7" name="Text 4"/>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6B625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731520"/>
          </a:xfrm>
          <a:prstGeom prst="rect">
            <a:avLst/>
          </a:prstGeom>
          <a:noFill/>
          <a:ln/>
        </p:spPr>
        <p:txBody>
          <a:bodyPr wrap="square" lIns="0" tIns="0" rIns="0" bIns="0" rtlCol="0" anchor="ctr"/>
          <a:lstStyle/>
          <a:p>
            <a:pPr indent="0" marL="0">
              <a:buNone/>
            </a:pPr>
            <a:r>
              <a:rPr lang="en-US" sz="3200" b="1" dirty="0">
                <a:solidFill>
                  <a:srgbClr val="1A1610"/>
                </a:solidFill>
                <a:latin typeface="Cambria" pitchFamily="34" charset="0"/>
                <a:ea typeface="Cambria" pitchFamily="34" charset="-122"/>
                <a:cs typeface="Cambria" pitchFamily="34" charset="-120"/>
              </a:rPr>
              <a:t>Capping Gaussian Size — Tested on the Same Data</a:t>
            </a:r>
            <a:endParaRPr lang="en-US" sz="3200" dirty="0"/>
          </a:p>
        </p:txBody>
      </p:sp>
      <p:pic>
        <p:nvPicPr>
          <p:cNvPr id="3" name="Image 0" descr="E:/masters/MLCV seminar/TeamProject/runs/real_proof/control_vs_capped_real.png">    </p:cNvPr>
          <p:cNvPicPr>
            <a:picLocks noChangeAspect="1"/>
          </p:cNvPicPr>
          <p:nvPr/>
        </p:nvPicPr>
        <p:blipFill>
          <a:blip r:embed="rId1"/>
          <a:stretch>
            <a:fillRect/>
          </a:stretch>
        </p:blipFill>
        <p:spPr>
          <a:xfrm>
            <a:off x="655168" y="1371600"/>
            <a:ext cx="10881360" cy="3767696"/>
          </a:xfrm>
          <a:prstGeom prst="rect">
            <a:avLst/>
          </a:prstGeom>
        </p:spPr>
      </p:pic>
      <p:sp>
        <p:nvSpPr>
          <p:cNvPr id="4" name="Text 1"/>
          <p:cNvSpPr txBox="1"/>
          <p:nvPr/>
        </p:nvSpPr>
        <p:spPr>
          <a:xfrm>
            <a:off x="640080" y="5276456"/>
            <a:ext cx="10881360" cy="365760"/>
          </a:xfrm>
          <a:prstGeom prst="rect">
            <a:avLst/>
          </a:prstGeom>
          <a:noFill/>
          <a:ln/>
        </p:spPr>
        <p:txBody>
          <a:bodyPr wrap="square" lIns="0" tIns="0" rIns="0" bIns="0" rtlCol="0" anchor="ctr"/>
          <a:lstStyle/>
          <a:p>
            <a:pPr indent="0" marL="0">
              <a:buNone/>
            </a:pPr>
            <a:r>
              <a:rPr lang="en-US" sz="1300" dirty="0">
                <a:solidFill>
                  <a:srgbClr val="463D33"/>
                </a:solidFill>
                <a:latin typeface="Calibri" pitchFamily="34" charset="0"/>
                <a:ea typeface="Calibri" pitchFamily="34" charset="-122"/>
                <a:cs typeface="Calibri" pitchFamily="34" charset="-120"/>
              </a:rPr>
              <a:t>Same 24 nuclei, same volume, one fit (seed 0)  ·  </a:t>
            </a:r>
            <a:pPr indent="0" marL="0">
              <a:buNone/>
            </a:pPr>
            <a:r>
              <a:rPr lang="en-US" sz="1300" b="1" dirty="0">
                <a:solidFill>
                  <a:srgbClr val="2CA02C"/>
                </a:solidFill>
                <a:latin typeface="Calibri" pitchFamily="34" charset="0"/>
                <a:ea typeface="Calibri" pitchFamily="34" charset="-122"/>
                <a:cs typeface="Calibri" pitchFamily="34" charset="-120"/>
              </a:rPr>
              <a:t>20/24 → 21/24 recovered</a:t>
            </a:r>
            <a:pPr indent="0" marL="0">
              <a:buNone/>
            </a:pPr>
            <a:r>
              <a:rPr lang="en-US" sz="1300" dirty="0">
                <a:solidFill>
                  <a:srgbClr val="463D33"/>
                </a:solidFill>
                <a:latin typeface="Calibri" pitchFamily="34" charset="0"/>
                <a:ea typeface="Calibri" pitchFamily="34" charset="-122"/>
                <a:cs typeface="Calibri" pitchFamily="34" charset="-120"/>
              </a:rPr>
              <a:t>  ·  PSNR 25.71 → 25.70 dB</a:t>
            </a:r>
            <a:endParaRPr lang="en-US" sz="1300" dirty="0"/>
          </a:p>
        </p:txBody>
      </p:sp>
      <p:sp>
        <p:nvSpPr>
          <p:cNvPr id="5" name="Text 2"/>
          <p:cNvSpPr txBox="1"/>
          <p:nvPr/>
        </p:nvSpPr>
        <p:spPr>
          <a:xfrm>
            <a:off x="640080" y="5614784"/>
            <a:ext cx="10881360" cy="685800"/>
          </a:xfrm>
          <a:prstGeom prst="rect">
            <a:avLst/>
          </a:prstGeom>
          <a:noFill/>
          <a:ln/>
        </p:spPr>
        <p:txBody>
          <a:bodyPr wrap="square" lIns="0" tIns="0" rIns="0" bIns="0" rtlCol="0" anchor="ctr"/>
          <a:lstStyle/>
          <a:p>
            <a:pPr indent="0" marL="0">
              <a:buNone/>
            </a:pPr>
            <a:r>
              <a:rPr lang="en-US" sz="1150" i="1" dirty="0">
                <a:solidFill>
                  <a:srgbClr val="6B6258"/>
                </a:solidFill>
                <a:latin typeface="Calibri" pitchFamily="34" charset="0"/>
                <a:ea typeface="Calibri" pitchFamily="34" charset="-122"/>
                <a:cs typeface="Calibri" pitchFamily="34" charset="-120"/>
              </a:rPr>
              <a:t>The one nucleus that flipped sits at the crop edge. Across 4 regions (seed 0, corrected matcher), faint-group survival S_B — the share of the faint reference nuclei still found — went 13/31 → 19/31 (+6): 4/9→5/9, 5/13→9/13, 3/4→2/4 (worse), 1/5→3/5. Recall 0.73 → 0.80; PSNR −0.01 dB.</a:t>
            </a:r>
            <a:endParaRPr lang="en-US" sz="1150" dirty="0"/>
          </a:p>
        </p:txBody>
      </p:sp>
      <p:sp>
        <p:nvSpPr>
          <p:cNvPr id="6" name="Text 3"/>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6B6258"/>
                </a:solidFill>
                <a:latin typeface="Calibri" pitchFamily="34" charset="0"/>
                <a:ea typeface="Calibri" pitchFamily="34" charset="-122"/>
                <a:cs typeface="Calibri" pitchFamily="34" charset="-120"/>
              </a:rPr>
              <a:t>Tribolium nuclei · 3D Gaussian splatting</a:t>
            </a:r>
            <a:endParaRPr lang="en-US" sz="900" dirty="0"/>
          </a:p>
        </p:txBody>
      </p:sp>
      <p:sp>
        <p:nvSpPr>
          <p:cNvPr id="7" name="Text 4"/>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6B625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731520"/>
          </a:xfrm>
          <a:prstGeom prst="rect">
            <a:avLst/>
          </a:prstGeom>
          <a:noFill/>
          <a:ln/>
        </p:spPr>
        <p:txBody>
          <a:bodyPr wrap="square" lIns="0" tIns="0" rIns="0" bIns="0" rtlCol="0" anchor="ctr"/>
          <a:lstStyle/>
          <a:p>
            <a:pPr indent="0" marL="0">
              <a:buNone/>
            </a:pPr>
            <a:r>
              <a:rPr lang="en-US" sz="3200" b="1" dirty="0">
                <a:solidFill>
                  <a:srgbClr val="1A1610"/>
                </a:solidFill>
                <a:latin typeface="Cambria" pitchFamily="34" charset="0"/>
                <a:ea typeface="Cambria" pitchFamily="34" charset="-122"/>
                <a:cs typeface="Cambria" pitchFamily="34" charset="-120"/>
              </a:rPr>
              <a:t>Tested Settings</a:t>
            </a:r>
            <a:endParaRPr lang="en-US" sz="3200" dirty="0"/>
          </a:p>
        </p:txBody>
      </p:sp>
      <p:sp>
        <p:nvSpPr>
          <p:cNvPr id="3" name="Text 1"/>
          <p:cNvSpPr txBox="1"/>
          <p:nvPr/>
        </p:nvSpPr>
        <p:spPr>
          <a:xfrm>
            <a:off x="640080" y="1188720"/>
            <a:ext cx="10881360" cy="365760"/>
          </a:xfrm>
          <a:prstGeom prst="rect">
            <a:avLst/>
          </a:prstGeom>
          <a:noFill/>
          <a:ln/>
        </p:spPr>
        <p:txBody>
          <a:bodyPr wrap="square" lIns="0" tIns="0" rIns="0" bIns="0" rtlCol="0" anchor="ctr"/>
          <a:lstStyle/>
          <a:p>
            <a:pPr indent="0" marL="0">
              <a:buNone/>
            </a:pPr>
            <a:r>
              <a:rPr lang="en-US" sz="1400" i="1" dirty="0">
                <a:solidFill>
                  <a:srgbClr val="6B6258"/>
                </a:solidFill>
                <a:latin typeface="Calibri" pitchFamily="34" charset="0"/>
                <a:ea typeface="Calibri" pitchFamily="34" charset="-122"/>
                <a:cs typeface="Calibri" pitchFamily="34" charset="-120"/>
              </a:rPr>
              <a:t>What was used for the Tribolium crops, and where each choice came from. Rows were measured one at a time unless noted.</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914400"/>
        </p:xfrm>
        <a:graphic>
          <a:graphicData uri="http://schemas.openxmlformats.org/drawingml/2006/table">
            <a:tbl>
              <a:tblPr/>
              <a:tblGrid>
                <a:gridCol w="2606040"/>
                <a:gridCol w="5074920"/>
                <a:gridCol w="3200400"/>
              </a:tblGrid>
              <a:tr h="475488">
                <a:tc>
                  <a:txBody>
                    <a:bodyPr/>
                    <a:lstStyle/>
                    <a:p>
                      <a:pPr indent="0" marL="0">
                        <a:buNone/>
                      </a:pPr>
                      <a:r>
                        <a:rPr lang="en-US" sz="1250" b="1" dirty="0">
                          <a:solidFill>
                            <a:srgbClr val="F5F1E8"/>
                          </a:solidFill>
                          <a:latin typeface="Calibri" pitchFamily="34" charset="0"/>
                          <a:ea typeface="Calibri" pitchFamily="34" charset="-122"/>
                          <a:cs typeface="Calibri" pitchFamily="34" charset="-120"/>
                        </a:rPr>
                        <a:t>Parameter</a:t>
                      </a:r>
                      <a:endParaRPr lang="en-US" sz="12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solidFill>
                      <a:srgbClr val="1A1610"/>
                    </a:solidFill>
                  </a:tcPr>
                </a:tc>
                <a:tc>
                  <a:txBody>
                    <a:bodyPr/>
                    <a:lstStyle/>
                    <a:p>
                      <a:pPr indent="0" marL="0">
                        <a:buNone/>
                      </a:pPr>
                      <a:r>
                        <a:rPr lang="en-US" sz="1250" b="1" dirty="0">
                          <a:solidFill>
                            <a:srgbClr val="F5F1E8"/>
                          </a:solidFill>
                          <a:latin typeface="Calibri" pitchFamily="34" charset="0"/>
                          <a:ea typeface="Calibri" pitchFamily="34" charset="-122"/>
                          <a:cs typeface="Calibri" pitchFamily="34" charset="-120"/>
                        </a:rPr>
                        <a:t>Value</a:t>
                      </a:r>
                      <a:endParaRPr lang="en-US" sz="12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solidFill>
                      <a:srgbClr val="1A1610"/>
                    </a:solidFill>
                  </a:tcPr>
                </a:tc>
                <a:tc>
                  <a:txBody>
                    <a:bodyPr/>
                    <a:lstStyle/>
                    <a:p>
                      <a:pPr indent="0" marL="0">
                        <a:buNone/>
                      </a:pPr>
                      <a:r>
                        <a:rPr lang="en-US" sz="1250" b="1" dirty="0">
                          <a:solidFill>
                            <a:srgbClr val="F5F1E8"/>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solidFill>
                      <a:srgbClr val="1A1610"/>
                    </a:solidFill>
                  </a:tcPr>
                </a:tc>
              </a:tr>
              <a:tr h="475488">
                <a:tc>
                  <a:txBody>
                    <a:bodyPr/>
                    <a:lstStyle/>
                    <a:p>
                      <a:pPr indent="0" marL="0">
                        <a:buNone/>
                      </a:pPr>
                      <a:r>
                        <a:rPr lang="en-US" sz="1250" dirty="0">
                          <a:solidFill>
                            <a:srgbClr val="1A1610"/>
                          </a:solidFill>
                          <a:latin typeface="Calibri" pitchFamily="34" charset="0"/>
                          <a:ea typeface="Calibri" pitchFamily="34" charset="-122"/>
                          <a:cs typeface="Calibri" pitchFamily="34" charset="-120"/>
                        </a:rPr>
                        <a:t>Parameterization</a:t>
                      </a:r>
                      <a:endParaRPr lang="en-US" sz="12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c>
                  <a:txBody>
                    <a:bodyPr/>
                    <a:lstStyle/>
                    <a:p>
                      <a:pPr indent="0" marL="0">
                        <a:buNone/>
                      </a:pPr>
                      <a:r>
                        <a:rPr lang="en-US" sz="1250" dirty="0">
                          <a:solidFill>
                            <a:srgbClr val="1A1610"/>
                          </a:solidFill>
                          <a:latin typeface="Calibri" pitchFamily="34" charset="0"/>
                          <a:ea typeface="Calibri" pitchFamily="34" charset="-122"/>
                          <a:cs typeface="Calibri" pitchFamily="34" charset="-120"/>
                        </a:rPr>
                        <a:t>Full anisotropic (11 stored numbers, 10 degrees of freedom)</a:t>
                      </a:r>
                      <a:endParaRPr lang="en-US" sz="12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c>
                  <a:txBody>
                    <a:bodyPr/>
                    <a:lstStyle/>
                    <a:p>
                      <a:pPr indent="0" marL="0">
                        <a:buNone/>
                      </a:pPr>
                      <a:r>
                        <a:rPr lang="en-US" sz="1150" b="1" dirty="0">
                          <a:solidFill>
                            <a:srgbClr val="4F7C93"/>
                          </a:solidFill>
                          <a:latin typeface="Calibri" pitchFamily="34" charset="0"/>
                          <a:ea typeface="Calibri" pitchFamily="34" charset="-122"/>
                          <a:cs typeface="Calibri" pitchFamily="34" charset="-120"/>
                        </a:rPr>
                        <a:t>Colleague's archive</a:t>
                      </a:r>
                      <a:endParaRPr lang="en-US" sz="11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r>
              <a:tr h="475488">
                <a:tc>
                  <a:txBody>
                    <a:bodyPr/>
                    <a:lstStyle/>
                    <a:p>
                      <a:pPr indent="0" marL="0">
                        <a:buNone/>
                      </a:pPr>
                      <a:r>
                        <a:rPr lang="en-US" sz="1250" dirty="0">
                          <a:solidFill>
                            <a:srgbClr val="1A1610"/>
                          </a:solidFill>
                          <a:latin typeface="Calibri" pitchFamily="34" charset="0"/>
                          <a:ea typeface="Calibri" pitchFamily="34" charset="-122"/>
                          <a:cs typeface="Calibri" pitchFamily="34" charset="-120"/>
                        </a:rPr>
                        <a:t>Initialization</a:t>
                      </a:r>
                      <a:endParaRPr lang="en-US" sz="12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c>
                  <a:txBody>
                    <a:bodyPr/>
                    <a:lstStyle/>
                    <a:p>
                      <a:pPr indent="0" marL="0">
                        <a:buNone/>
                      </a:pPr>
                      <a:r>
                        <a:rPr lang="en-US" sz="1250" dirty="0">
                          <a:solidFill>
                            <a:srgbClr val="1A1610"/>
                          </a:solidFill>
                          <a:latin typeface="Calibri" pitchFamily="34" charset="0"/>
                          <a:ea typeface="Calibri" pitchFamily="34" charset="-122"/>
                          <a:cs typeface="Calibri" pitchFamily="34" charset="-120"/>
                        </a:rPr>
                        <a:t>Coverage: one Gaussian per detected nucleus, then intensity-weighted support</a:t>
                      </a:r>
                      <a:endParaRPr lang="en-US" sz="12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c>
                  <a:txBody>
                    <a:bodyPr/>
                    <a:lstStyle/>
                    <a:p>
                      <a:pPr indent="0" marL="0">
                        <a:buNone/>
                      </a:pPr>
                      <a:r>
                        <a:rPr lang="en-US" sz="1150" b="1" dirty="0">
                          <a:solidFill>
                            <a:srgbClr val="6B6258"/>
                          </a:solidFill>
                          <a:latin typeface="Calibri" pitchFamily="34" charset="0"/>
                          <a:ea typeface="Calibri" pitchFamily="34" charset="-122"/>
                          <a:cs typeface="Calibri" pitchFamily="34" charset="-120"/>
                        </a:rPr>
                        <a:t>Colleague's auto-tuner + this work</a:t>
                      </a:r>
                      <a:endParaRPr lang="en-US" sz="11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r>
              <a:tr h="475488">
                <a:tc>
                  <a:txBody>
                    <a:bodyPr/>
                    <a:lstStyle/>
                    <a:p>
                      <a:pPr indent="0" marL="0">
                        <a:buNone/>
                      </a:pPr>
                      <a:r>
                        <a:rPr lang="en-US" sz="1250" dirty="0">
                          <a:solidFill>
                            <a:srgbClr val="1A1610"/>
                          </a:solidFill>
                          <a:latin typeface="Calibri" pitchFamily="34" charset="0"/>
                          <a:ea typeface="Calibri" pitchFamily="34" charset="-122"/>
                          <a:cs typeface="Calibri" pitchFamily="34" charset="-120"/>
                        </a:rPr>
                        <a:t>Candidate spacing (NMS)</a:t>
                      </a:r>
                      <a:endParaRPr lang="en-US" sz="12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c>
                  <a:txBody>
                    <a:bodyPr/>
                    <a:lstStyle/>
                    <a:p>
                      <a:pPr indent="0" marL="0">
                        <a:buNone/>
                      </a:pPr>
                      <a:r>
                        <a:rPr lang="en-US" sz="1250" dirty="0">
                          <a:solidFill>
                            <a:srgbClr val="1A1610"/>
                          </a:solidFill>
                          <a:latin typeface="Calibri" pitchFamily="34" charset="0"/>
                          <a:ea typeface="Calibri" pitchFamily="34" charset="-122"/>
                          <a:cs typeface="Calibri" pitchFamily="34" charset="-120"/>
                        </a:rPr>
                        <a:t>Set in microns for each dataset (≈ nucleus spacing); a fixed voxel window fails on stretched voxels</a:t>
                      </a:r>
                      <a:endParaRPr lang="en-US" sz="12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c>
                  <a:txBody>
                    <a:bodyPr/>
                    <a:lstStyle/>
                    <a:p>
                      <a:pPr indent="0" marL="0">
                        <a:buNone/>
                      </a:pPr>
                      <a:r>
                        <a:rPr lang="en-US" sz="1150" b="1" dirty="0">
                          <a:solidFill>
                            <a:srgbClr val="4F7C93"/>
                          </a:solidFill>
                          <a:latin typeface="Calibri" pitchFamily="34" charset="0"/>
                          <a:ea typeface="Calibri" pitchFamily="34" charset="-122"/>
                          <a:cs typeface="Calibri" pitchFamily="34" charset="-120"/>
                        </a:rPr>
                        <a:t>Colleague’s auto-tuner; unit fix this work</a:t>
                      </a:r>
                      <a:endParaRPr lang="en-US" sz="11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r>
              <a:tr h="475488">
                <a:tc>
                  <a:txBody>
                    <a:bodyPr/>
                    <a:lstStyle/>
                    <a:p>
                      <a:pPr indent="0" marL="0">
                        <a:buNone/>
                      </a:pPr>
                      <a:r>
                        <a:rPr lang="en-US" sz="1250" dirty="0">
                          <a:solidFill>
                            <a:srgbClr val="1A1610"/>
                          </a:solidFill>
                          <a:latin typeface="Calibri" pitchFamily="34" charset="0"/>
                          <a:ea typeface="Calibri" pitchFamily="34" charset="-122"/>
                          <a:cs typeface="Calibri" pitchFamily="34" charset="-120"/>
                        </a:rPr>
                        <a:t>Position learning rate</a:t>
                      </a:r>
                      <a:endParaRPr lang="en-US" sz="12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c>
                  <a:txBody>
                    <a:bodyPr/>
                    <a:lstStyle/>
                    <a:p>
                      <a:pPr indent="0" marL="0">
                        <a:buNone/>
                      </a:pPr>
                      <a:r>
                        <a:rPr lang="en-US" sz="1250" dirty="0">
                          <a:solidFill>
                            <a:srgbClr val="1A1610"/>
                          </a:solidFill>
                          <a:latin typeface="Calibri" pitchFamily="34" charset="0"/>
                          <a:ea typeface="Calibri" pitchFamily="34" charset="-122"/>
                          <a:cs typeface="Calibri" pitchFamily="34" charset="-120"/>
                        </a:rPr>
                        <a:t>0.05–0.1 when seeds are poor; the default (0.0016) when seeds are good</a:t>
                      </a:r>
                      <a:endParaRPr lang="en-US" sz="12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c>
                  <a:txBody>
                    <a:bodyPr/>
                    <a:lstStyle/>
                    <a:p>
                      <a:pPr indent="0" marL="0">
                        <a:buNone/>
                      </a:pPr>
                      <a:r>
                        <a:rPr lang="en-US" sz="1150" b="1" dirty="0">
                          <a:solidFill>
                            <a:srgbClr val="E8973F"/>
                          </a:solidFill>
                          <a:latin typeface="Calibri" pitchFamily="34" charset="0"/>
                          <a:ea typeface="Calibri" pitchFamily="34" charset="-122"/>
                          <a:cs typeface="Calibri" pitchFamily="34" charset="-120"/>
                        </a:rPr>
                        <a:t>This work</a:t>
                      </a:r>
                      <a:endParaRPr lang="en-US" sz="11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r>
              <a:tr h="475488">
                <a:tc>
                  <a:txBody>
                    <a:bodyPr/>
                    <a:lstStyle/>
                    <a:p>
                      <a:pPr indent="0" marL="0">
                        <a:buNone/>
                      </a:pPr>
                      <a:r>
                        <a:rPr lang="en-US" sz="1250" dirty="0">
                          <a:solidFill>
                            <a:srgbClr val="1A1610"/>
                          </a:solidFill>
                          <a:latin typeface="Calibri" pitchFamily="34" charset="0"/>
                          <a:ea typeface="Calibri" pitchFamily="34" charset="-122"/>
                          <a:cs typeface="Calibri" pitchFamily="34" charset="-120"/>
                        </a:rPr>
                        <a:t>Nucleus-Gaussian scale cap</a:t>
                      </a:r>
                      <a:endParaRPr lang="en-US" sz="12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c>
                  <a:txBody>
                    <a:bodyPr/>
                    <a:lstStyle/>
                    <a:p>
                      <a:pPr indent="0" marL="0">
                        <a:buNone/>
                      </a:pPr>
                      <a:r>
                        <a:rPr lang="en-US" sz="1250" dirty="0">
                          <a:solidFill>
                            <a:srgbClr val="1A1610"/>
                          </a:solidFill>
                          <a:latin typeface="Calibri" pitchFamily="34" charset="0"/>
                          <a:ea typeface="Calibri" pitchFamily="34" charset="-122"/>
                          <a:cs typeface="Calibri" pitchFamily="34" charset="-120"/>
                        </a:rPr>
                        <a:t>10 voxels (6.9 µm in xy), nucleus-seeded Gaussians only; tested at the default learning rate</a:t>
                      </a:r>
                      <a:endParaRPr lang="en-US" sz="12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c>
                  <a:txBody>
                    <a:bodyPr/>
                    <a:lstStyle/>
                    <a:p>
                      <a:pPr indent="0" marL="0">
                        <a:buNone/>
                      </a:pPr>
                      <a:r>
                        <a:rPr lang="en-US" sz="1150" b="1" dirty="0">
                          <a:solidFill>
                            <a:srgbClr val="E8973F"/>
                          </a:solidFill>
                          <a:latin typeface="Calibri" pitchFamily="34" charset="0"/>
                          <a:ea typeface="Calibri" pitchFamily="34" charset="-122"/>
                          <a:cs typeface="Calibri" pitchFamily="34" charset="-120"/>
                        </a:rPr>
                        <a:t>This work</a:t>
                      </a:r>
                      <a:endParaRPr lang="en-US" sz="11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r>
              <a:tr h="475488">
                <a:tc>
                  <a:txBody>
                    <a:bodyPr/>
                    <a:lstStyle/>
                    <a:p>
                      <a:pPr indent="0" marL="0">
                        <a:buNone/>
                      </a:pPr>
                      <a:r>
                        <a:rPr lang="en-US" sz="1250" dirty="0">
                          <a:solidFill>
                            <a:srgbClr val="1A1610"/>
                          </a:solidFill>
                          <a:latin typeface="Calibri" pitchFamily="34" charset="0"/>
                          <a:ea typeface="Calibri" pitchFamily="34" charset="-122"/>
                          <a:cs typeface="Calibri" pitchFamily="34" charset="-120"/>
                        </a:rPr>
                        <a:t>Gaussian budget K</a:t>
                      </a:r>
                      <a:endParaRPr lang="en-US" sz="12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c>
                  <a:txBody>
                    <a:bodyPr/>
                    <a:lstStyle/>
                    <a:p>
                      <a:pPr indent="0" marL="0">
                        <a:buNone/>
                      </a:pPr>
                      <a:r>
                        <a:rPr lang="en-US" sz="1250" dirty="0">
                          <a:solidFill>
                            <a:srgbClr val="1A1610"/>
                          </a:solidFill>
                          <a:latin typeface="Calibri" pitchFamily="34" charset="0"/>
                          <a:ea typeface="Calibri" pitchFamily="34" charset="-122"/>
                          <a:cs typeface="Calibri" pitchFamily="34" charset="-120"/>
                        </a:rPr>
                        <a:t>≈ 1 per nucleus + support (≈250 for 24 nuclei)</a:t>
                      </a:r>
                      <a:endParaRPr lang="en-US" sz="12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c>
                  <a:txBody>
                    <a:bodyPr/>
                    <a:lstStyle/>
                    <a:p>
                      <a:pPr indent="0" marL="0">
                        <a:buNone/>
                      </a:pPr>
                      <a:r>
                        <a:rPr lang="en-US" sz="1150" b="1" dirty="0">
                          <a:solidFill>
                            <a:srgbClr val="4F7C93"/>
                          </a:solidFill>
                          <a:latin typeface="Calibri" pitchFamily="34" charset="0"/>
                          <a:ea typeface="Calibri" pitchFamily="34" charset="-122"/>
                          <a:cs typeface="Calibri" pitchFamily="34" charset="-120"/>
                        </a:rPr>
                        <a:t>Colleague's budget sweep</a:t>
                      </a:r>
                      <a:endParaRPr lang="en-US" sz="11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r>
              <a:tr h="475488">
                <a:tc>
                  <a:txBody>
                    <a:bodyPr/>
                    <a:lstStyle/>
                    <a:p>
                      <a:pPr indent="0" marL="0">
                        <a:buNone/>
                      </a:pPr>
                      <a:r>
                        <a:rPr lang="en-US" sz="1250" dirty="0">
                          <a:solidFill>
                            <a:srgbClr val="1A1610"/>
                          </a:solidFill>
                          <a:latin typeface="Calibri" pitchFamily="34" charset="0"/>
                          <a:ea typeface="Calibri" pitchFamily="34" charset="-122"/>
                          <a:cs typeface="Calibri" pitchFamily="34" charset="-120"/>
                        </a:rPr>
                        <a:t>Training iterations</a:t>
                      </a:r>
                      <a:endParaRPr lang="en-US" sz="12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c>
                  <a:txBody>
                    <a:bodyPr/>
                    <a:lstStyle/>
                    <a:p>
                      <a:pPr indent="0" marL="0">
                        <a:buNone/>
                      </a:pPr>
                      <a:r>
                        <a:rPr lang="en-US" sz="1250" dirty="0">
                          <a:solidFill>
                            <a:srgbClr val="1A1610"/>
                          </a:solidFill>
                          <a:latin typeface="Calibri" pitchFamily="34" charset="0"/>
                          <a:ea typeface="Calibri" pitchFamily="34" charset="-122"/>
                          <a:cs typeface="Calibri" pitchFamily="34" charset="-120"/>
                        </a:rPr>
                        <a:t>3000</a:t>
                      </a:r>
                      <a:endParaRPr lang="en-US" sz="12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c>
                  <a:txBody>
                    <a:bodyPr/>
                    <a:lstStyle/>
                    <a:p>
                      <a:pPr indent="0" marL="0">
                        <a:buNone/>
                      </a:pPr>
                      <a:r>
                        <a:rPr lang="en-US" sz="1150" b="1" dirty="0">
                          <a:solidFill>
                            <a:srgbClr val="4F7C93"/>
                          </a:solidFill>
                          <a:latin typeface="Calibri" pitchFamily="34" charset="0"/>
                          <a:ea typeface="Calibri" pitchFamily="34" charset="-122"/>
                          <a:cs typeface="Calibri" pitchFamily="34" charset="-120"/>
                        </a:rPr>
                        <a:t>Colleague's archive</a:t>
                      </a:r>
                      <a:endParaRPr lang="en-US" sz="11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r>
              <a:tr h="475488">
                <a:tc>
                  <a:txBody>
                    <a:bodyPr/>
                    <a:lstStyle/>
                    <a:p>
                      <a:pPr indent="0" marL="0">
                        <a:buNone/>
                      </a:pPr>
                      <a:r>
                        <a:rPr lang="en-US" sz="1250" dirty="0">
                          <a:solidFill>
                            <a:srgbClr val="1A1610"/>
                          </a:solidFill>
                          <a:latin typeface="Calibri" pitchFamily="34" charset="0"/>
                          <a:ea typeface="Calibri" pitchFamily="34" charset="-122"/>
                          <a:cs typeface="Calibri" pitchFamily="34" charset="-120"/>
                        </a:rPr>
                        <a:t>Batch sampling</a:t>
                      </a:r>
                      <a:endParaRPr lang="en-US" sz="12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c>
                  <a:txBody>
                    <a:bodyPr/>
                    <a:lstStyle/>
                    <a:p>
                      <a:pPr indent="0" marL="0">
                        <a:buNone/>
                      </a:pPr>
                      <a:r>
                        <a:rPr lang="en-US" sz="1250" dirty="0">
                          <a:solidFill>
                            <a:srgbClr val="1A1610"/>
                          </a:solidFill>
                          <a:latin typeface="Calibri" pitchFamily="34" charset="0"/>
                          <a:ea typeface="Calibri" pitchFamily="34" charset="-122"/>
                          <a:cs typeface="Calibri" pitchFamily="34" charset="-120"/>
                        </a:rPr>
                        <a:t>70% intensity-weighted / 30% uniform (no importance correction)</a:t>
                      </a:r>
                      <a:endParaRPr lang="en-US" sz="12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c>
                  <a:txBody>
                    <a:bodyPr/>
                    <a:lstStyle/>
                    <a:p>
                      <a:pPr indent="0" marL="0">
                        <a:buNone/>
                      </a:pPr>
                      <a:r>
                        <a:rPr lang="en-US" sz="1150" b="1" dirty="0">
                          <a:solidFill>
                            <a:srgbClr val="4F7C93"/>
                          </a:solidFill>
                          <a:latin typeface="Calibri" pitchFamily="34" charset="0"/>
                          <a:ea typeface="Calibri" pitchFamily="34" charset="-122"/>
                          <a:cs typeface="Calibri" pitchFamily="34" charset="-120"/>
                        </a:rPr>
                        <a:t>Colleague's archive</a:t>
                      </a:r>
                      <a:endParaRPr lang="en-US" sz="1150" dirty="0">
                        <a:latin typeface="Calibri" charset="0"/>
                        <a:ea typeface="Calibri" charset="0"/>
                        <a:cs typeface="Calibri" charset="0"/>
                      </a:endParaRPr>
                    </a:p>
                  </a:txBody>
                  <a:tcPr marL="101600" marR="101600" marT="50800" marB="50800" anchor="ctr">
                    <a:lnL w="9525" cap="flat" cmpd="sng" algn="ctr">
                      <a:solidFill>
                        <a:srgbClr val="DDD6CB"/>
                      </a:solidFill>
                      <a:prstDash val="solid"/>
                      <a:round/>
                      <a:headEnd type="none" w="med" len="med"/>
                      <a:tailEnd type="none" w="med" len="med"/>
                    </a:lnL>
                    <a:lnR w="9525" cap="flat" cmpd="sng" algn="ctr">
                      <a:solidFill>
                        <a:srgbClr val="DDD6CB"/>
                      </a:solidFill>
                      <a:prstDash val="solid"/>
                      <a:round/>
                      <a:headEnd type="none" w="med" len="med"/>
                      <a:tailEnd type="none" w="med" len="med"/>
                    </a:lnR>
                    <a:lnT w="9525" cap="flat" cmpd="sng" algn="ctr">
                      <a:solidFill>
                        <a:srgbClr val="DDD6CB"/>
                      </a:solidFill>
                      <a:prstDash val="solid"/>
                      <a:round/>
                      <a:headEnd type="none" w="med" len="med"/>
                      <a:tailEnd type="none" w="med" len="med"/>
                    </a:lnT>
                    <a:lnB w="9525" cap="flat" cmpd="sng" algn="ctr">
                      <a:solidFill>
                        <a:srgbClr val="DDD6CB"/>
                      </a:solidFill>
                      <a:prstDash val="solid"/>
                      <a:round/>
                      <a:headEnd type="none" w="med" len="med"/>
                      <a:tailEnd type="none" w="med" len="med"/>
                    </a:lnB>
                  </a:tcPr>
                </a:tc>
              </a:tr>
            </a:tbl>
          </a:graphicData>
        </a:graphic>
      </p:graphicFrame>
      <p:sp>
        <p:nvSpPr>
          <p:cNvPr id="5" name="Text 2"/>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6B6258"/>
                </a:solidFill>
                <a:latin typeface="Calibri" pitchFamily="34" charset="0"/>
                <a:ea typeface="Calibri" pitchFamily="34" charset="-122"/>
                <a:cs typeface="Calibri" pitchFamily="34" charset="-120"/>
              </a:rPr>
              <a:t>Tribolium nuclei · 3D Gaussian splatting</a:t>
            </a:r>
            <a:endParaRPr lang="en-US" sz="900" dirty="0"/>
          </a:p>
        </p:txBody>
      </p:sp>
      <p:sp>
        <p:nvSpPr>
          <p:cNvPr id="6" name="Text 3"/>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6B625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731520"/>
          </a:xfrm>
          <a:prstGeom prst="rect">
            <a:avLst/>
          </a:prstGeom>
          <a:noFill/>
          <a:ln/>
        </p:spPr>
        <p:txBody>
          <a:bodyPr wrap="square" lIns="0" tIns="0" rIns="0" bIns="0" rtlCol="0" anchor="ctr"/>
          <a:lstStyle/>
          <a:p>
            <a:pPr indent="0" marL="0">
              <a:buNone/>
            </a:pPr>
            <a:r>
              <a:rPr lang="en-US" sz="3200" b="1" dirty="0">
                <a:solidFill>
                  <a:srgbClr val="1A1610"/>
                </a:solidFill>
                <a:latin typeface="Cambria" pitchFamily="34" charset="0"/>
                <a:ea typeface="Cambria" pitchFamily="34" charset="-122"/>
                <a:cs typeface="Cambria" pitchFamily="34" charset="-120"/>
              </a:rPr>
              <a:t>Results Summary</a:t>
            </a:r>
            <a:endParaRPr lang="en-US" sz="3200" dirty="0"/>
          </a:p>
        </p:txBody>
      </p:sp>
      <p:sp>
        <p:nvSpPr>
          <p:cNvPr id="3" name="Shape 1"/>
          <p:cNvSpPr/>
          <p:nvPr/>
        </p:nvSpPr>
        <p:spPr>
          <a:xfrm>
            <a:off x="640080" y="1920240"/>
            <a:ext cx="2606040" cy="2377440"/>
          </a:xfrm>
          <a:prstGeom prst="rect">
            <a:avLst/>
          </a:prstGeom>
          <a:solidFill>
            <a:srgbClr val="EDEAE4"/>
          </a:solidFill>
          <a:ln w="12700">
            <a:solidFill>
              <a:srgbClr val="DDD6CB"/>
            </a:solidFill>
            <a:prstDash val="solid"/>
          </a:ln>
        </p:spPr>
      </p:sp>
      <p:sp>
        <p:nvSpPr>
          <p:cNvPr id="4" name="Text 2"/>
          <p:cNvSpPr txBox="1"/>
          <p:nvPr/>
        </p:nvSpPr>
        <p:spPr>
          <a:xfrm>
            <a:off x="822960" y="2194560"/>
            <a:ext cx="2240280" cy="868680"/>
          </a:xfrm>
          <a:prstGeom prst="rect">
            <a:avLst/>
          </a:prstGeom>
          <a:noFill/>
          <a:ln/>
        </p:spPr>
        <p:txBody>
          <a:bodyPr wrap="square" lIns="0" tIns="0" rIns="0" bIns="0" rtlCol="0" anchor="b"/>
          <a:lstStyle/>
          <a:p>
            <a:pPr algn="l" indent="0" marL="0">
              <a:buNone/>
            </a:pPr>
            <a:r>
              <a:rPr lang="en-US" sz="4600" b="1" dirty="0">
                <a:solidFill>
                  <a:srgbClr val="E8973F"/>
                </a:solidFill>
                <a:latin typeface="Cambria" pitchFamily="34" charset="0"/>
                <a:ea typeface="Cambria" pitchFamily="34" charset="-122"/>
                <a:cs typeface="Cambria" pitchFamily="34" charset="-120"/>
              </a:rPr>
              <a:t>25.7</a:t>
            </a:r>
            <a:pPr algn="l" indent="0" marL="0">
              <a:buNone/>
            </a:pPr>
            <a:r>
              <a:rPr lang="en-US" sz="1600" b="1" dirty="0">
                <a:solidFill>
                  <a:srgbClr val="E8973F"/>
                </a:solidFill>
                <a:latin typeface="Cambria" pitchFamily="34" charset="0"/>
                <a:ea typeface="Cambria" pitchFamily="34" charset="-122"/>
                <a:cs typeface="Cambria" pitchFamily="34" charset="-120"/>
              </a:rPr>
              <a:t> dB</a:t>
            </a:r>
            <a:endParaRPr lang="en-US" sz="4600" dirty="0"/>
          </a:p>
        </p:txBody>
      </p:sp>
      <p:sp>
        <p:nvSpPr>
          <p:cNvPr id="5" name="Text 3"/>
          <p:cNvSpPr txBox="1"/>
          <p:nvPr/>
        </p:nvSpPr>
        <p:spPr>
          <a:xfrm>
            <a:off x="822960" y="3291840"/>
            <a:ext cx="2240280" cy="868680"/>
          </a:xfrm>
          <a:prstGeom prst="rect">
            <a:avLst/>
          </a:prstGeom>
          <a:noFill/>
          <a:ln/>
        </p:spPr>
        <p:txBody>
          <a:bodyPr wrap="square" lIns="0" tIns="0" rIns="0" bIns="0" rtlCol="0" anchor="t"/>
          <a:lstStyle/>
          <a:p>
            <a:pPr indent="0" marL="0">
              <a:buNone/>
            </a:pPr>
            <a:r>
              <a:rPr lang="en-US" sz="1300" dirty="0">
                <a:solidFill>
                  <a:srgbClr val="463D33"/>
                </a:solidFill>
                <a:latin typeface="Calibri" pitchFamily="34" charset="0"/>
                <a:ea typeface="Calibri" pitchFamily="34" charset="-122"/>
                <a:cs typeface="Calibri" pitchFamily="34" charset="-120"/>
              </a:rPr>
              <a:t>PSNR on one Tribolium crop (64×128×128), seed 0</a:t>
            </a:r>
            <a:endParaRPr lang="en-US" sz="1300" dirty="0"/>
          </a:p>
        </p:txBody>
      </p:sp>
      <p:sp>
        <p:nvSpPr>
          <p:cNvPr id="6" name="Shape 4"/>
          <p:cNvSpPr/>
          <p:nvPr/>
        </p:nvSpPr>
        <p:spPr>
          <a:xfrm>
            <a:off x="3474720" y="1920240"/>
            <a:ext cx="2606040" cy="2377440"/>
          </a:xfrm>
          <a:prstGeom prst="rect">
            <a:avLst/>
          </a:prstGeom>
          <a:solidFill>
            <a:srgbClr val="EDEAE4"/>
          </a:solidFill>
          <a:ln w="12700">
            <a:solidFill>
              <a:srgbClr val="DDD6CB"/>
            </a:solidFill>
            <a:prstDash val="solid"/>
          </a:ln>
        </p:spPr>
      </p:sp>
      <p:sp>
        <p:nvSpPr>
          <p:cNvPr id="7" name="Text 5"/>
          <p:cNvSpPr txBox="1"/>
          <p:nvPr/>
        </p:nvSpPr>
        <p:spPr>
          <a:xfrm>
            <a:off x="3657600" y="2194560"/>
            <a:ext cx="2240280" cy="868680"/>
          </a:xfrm>
          <a:prstGeom prst="rect">
            <a:avLst/>
          </a:prstGeom>
          <a:noFill/>
          <a:ln/>
        </p:spPr>
        <p:txBody>
          <a:bodyPr wrap="square" lIns="0" tIns="0" rIns="0" bIns="0" rtlCol="0" anchor="b"/>
          <a:lstStyle/>
          <a:p>
            <a:pPr algn="l" indent="0" marL="0">
              <a:buNone/>
            </a:pPr>
            <a:r>
              <a:rPr lang="en-US" sz="3400" b="1" dirty="0">
                <a:solidFill>
                  <a:srgbClr val="E8973F"/>
                </a:solidFill>
                <a:latin typeface="Cambria" pitchFamily="34" charset="0"/>
                <a:ea typeface="Cambria" pitchFamily="34" charset="-122"/>
                <a:cs typeface="Cambria" pitchFamily="34" charset="-120"/>
              </a:rPr>
              <a:t>20→21/24</a:t>
            </a:r>
            <a:pPr algn="l" indent="0" marL="0">
              <a:buNone/>
            </a:pPr>
            <a:endParaRPr lang="en-US" sz="3400" dirty="0"/>
          </a:p>
        </p:txBody>
      </p:sp>
      <p:sp>
        <p:nvSpPr>
          <p:cNvPr id="8" name="Text 6"/>
          <p:cNvSpPr txBox="1"/>
          <p:nvPr/>
        </p:nvSpPr>
        <p:spPr>
          <a:xfrm>
            <a:off x="3657600" y="3291840"/>
            <a:ext cx="2240280" cy="868680"/>
          </a:xfrm>
          <a:prstGeom prst="rect">
            <a:avLst/>
          </a:prstGeom>
          <a:noFill/>
          <a:ln/>
        </p:spPr>
        <p:txBody>
          <a:bodyPr wrap="square" lIns="0" tIns="0" rIns="0" bIns="0" rtlCol="0" anchor="t"/>
          <a:lstStyle/>
          <a:p>
            <a:pPr indent="0" marL="0">
              <a:buNone/>
            </a:pPr>
            <a:r>
              <a:rPr lang="en-US" sz="1300" dirty="0">
                <a:solidFill>
                  <a:srgbClr val="463D33"/>
                </a:solidFill>
                <a:latin typeface="Calibri" pitchFamily="34" charset="0"/>
                <a:ea typeface="Calibri" pitchFamily="34" charset="-122"/>
                <a:cs typeface="Calibri" pitchFamily="34" charset="-120"/>
              </a:rPr>
              <a:t>detector-found nuclei recovered on that crop, no cap → cap (PSNR 25.71 → 25.70)</a:t>
            </a:r>
            <a:endParaRPr lang="en-US" sz="1300" dirty="0"/>
          </a:p>
        </p:txBody>
      </p:sp>
      <p:sp>
        <p:nvSpPr>
          <p:cNvPr id="9" name="Shape 7"/>
          <p:cNvSpPr/>
          <p:nvPr/>
        </p:nvSpPr>
        <p:spPr>
          <a:xfrm>
            <a:off x="6309360" y="1920240"/>
            <a:ext cx="2606040" cy="2377440"/>
          </a:xfrm>
          <a:prstGeom prst="rect">
            <a:avLst/>
          </a:prstGeom>
          <a:solidFill>
            <a:srgbClr val="EDEAE4"/>
          </a:solidFill>
          <a:ln w="12700">
            <a:solidFill>
              <a:srgbClr val="DDD6CB"/>
            </a:solidFill>
            <a:prstDash val="solid"/>
          </a:ln>
        </p:spPr>
      </p:sp>
      <p:sp>
        <p:nvSpPr>
          <p:cNvPr id="10" name="Text 8"/>
          <p:cNvSpPr txBox="1"/>
          <p:nvPr/>
        </p:nvSpPr>
        <p:spPr>
          <a:xfrm>
            <a:off x="6492240" y="2194560"/>
            <a:ext cx="2240280" cy="868680"/>
          </a:xfrm>
          <a:prstGeom prst="rect">
            <a:avLst/>
          </a:prstGeom>
          <a:noFill/>
          <a:ln/>
        </p:spPr>
        <p:txBody>
          <a:bodyPr wrap="square" lIns="0" tIns="0" rIns="0" bIns="0" rtlCol="0" anchor="b"/>
          <a:lstStyle/>
          <a:p>
            <a:pPr algn="l" indent="0" marL="0">
              <a:buNone/>
            </a:pPr>
            <a:r>
              <a:rPr lang="en-US" sz="4600" b="1" dirty="0">
                <a:solidFill>
                  <a:srgbClr val="E8973F"/>
                </a:solidFill>
                <a:latin typeface="Cambria" pitchFamily="34" charset="0"/>
                <a:ea typeface="Cambria" pitchFamily="34" charset="-122"/>
                <a:cs typeface="Cambria" pitchFamily="34" charset="-120"/>
              </a:rPr>
              <a:t>381×</a:t>
            </a:r>
            <a:pPr algn="l" indent="0" marL="0">
              <a:buNone/>
            </a:pPr>
            <a:r>
              <a:rPr lang="en-US" sz="1600" b="1" dirty="0">
                <a:solidFill>
                  <a:srgbClr val="E8973F"/>
                </a:solidFill>
                <a:latin typeface="Cambria" pitchFamily="34" charset="0"/>
                <a:ea typeface="Cambria" pitchFamily="34" charset="-122"/>
                <a:cs typeface="Cambria" pitchFamily="34" charset="-120"/>
              </a:rPr>
              <a:t> fewer</a:t>
            </a:r>
            <a:endParaRPr lang="en-US" sz="4600" dirty="0"/>
          </a:p>
        </p:txBody>
      </p:sp>
      <p:sp>
        <p:nvSpPr>
          <p:cNvPr id="11" name="Text 9"/>
          <p:cNvSpPr txBox="1"/>
          <p:nvPr/>
        </p:nvSpPr>
        <p:spPr>
          <a:xfrm>
            <a:off x="6492240" y="3291840"/>
            <a:ext cx="2240280" cy="868680"/>
          </a:xfrm>
          <a:prstGeom prst="rect">
            <a:avLst/>
          </a:prstGeom>
          <a:noFill/>
          <a:ln/>
        </p:spPr>
        <p:txBody>
          <a:bodyPr wrap="square" lIns="0" tIns="0" rIns="0" bIns="0" rtlCol="0" anchor="t"/>
          <a:lstStyle/>
          <a:p>
            <a:pPr indent="0" marL="0">
              <a:buNone/>
            </a:pPr>
            <a:r>
              <a:rPr lang="en-US" sz="1300" dirty="0">
                <a:solidFill>
                  <a:srgbClr val="463D33"/>
                </a:solidFill>
                <a:latin typeface="Calibri" pitchFamily="34" charset="0"/>
                <a:ea typeface="Calibri" pitchFamily="34" charset="-122"/>
                <a:cs typeface="Calibri" pitchFamily="34" charset="-120"/>
              </a:rPr>
              <a:t>stored numbers: 250 Gaussians = 2,750 values vs 1,048,576 voxels (not a file-size ratio)</a:t>
            </a:r>
            <a:endParaRPr lang="en-US" sz="1300" dirty="0"/>
          </a:p>
        </p:txBody>
      </p:sp>
      <p:sp>
        <p:nvSpPr>
          <p:cNvPr id="12" name="Shape 10"/>
          <p:cNvSpPr/>
          <p:nvPr/>
        </p:nvSpPr>
        <p:spPr>
          <a:xfrm>
            <a:off x="9144000" y="1920240"/>
            <a:ext cx="2606040" cy="2377440"/>
          </a:xfrm>
          <a:prstGeom prst="rect">
            <a:avLst/>
          </a:prstGeom>
          <a:solidFill>
            <a:srgbClr val="EDEAE4"/>
          </a:solidFill>
          <a:ln w="12700">
            <a:solidFill>
              <a:srgbClr val="DDD6CB"/>
            </a:solidFill>
            <a:prstDash val="solid"/>
          </a:ln>
        </p:spPr>
      </p:sp>
      <p:sp>
        <p:nvSpPr>
          <p:cNvPr id="13" name="Text 11"/>
          <p:cNvSpPr txBox="1"/>
          <p:nvPr/>
        </p:nvSpPr>
        <p:spPr>
          <a:xfrm>
            <a:off x="9326880" y="2194560"/>
            <a:ext cx="2240280" cy="868680"/>
          </a:xfrm>
          <a:prstGeom prst="rect">
            <a:avLst/>
          </a:prstGeom>
          <a:noFill/>
          <a:ln/>
        </p:spPr>
        <p:txBody>
          <a:bodyPr wrap="square" lIns="0" tIns="0" rIns="0" bIns="0" rtlCol="0" anchor="b"/>
          <a:lstStyle/>
          <a:p>
            <a:pPr algn="l" indent="0" marL="0">
              <a:buNone/>
            </a:pPr>
            <a:r>
              <a:rPr lang="en-US" sz="4600" b="1" dirty="0">
                <a:solidFill>
                  <a:srgbClr val="E8973F"/>
                </a:solidFill>
                <a:latin typeface="Cambria" pitchFamily="34" charset="0"/>
                <a:ea typeface="Cambria" pitchFamily="34" charset="-122"/>
                <a:cs typeface="Cambria" pitchFamily="34" charset="-120"/>
              </a:rPr>
              <a:t>14</a:t>
            </a:r>
            <a:pPr algn="l" indent="0" marL="0">
              <a:buNone/>
            </a:pPr>
            <a:r>
              <a:rPr lang="en-US" sz="1600" b="1" dirty="0">
                <a:solidFill>
                  <a:srgbClr val="E8973F"/>
                </a:solidFill>
                <a:latin typeface="Cambria" pitchFamily="34" charset="0"/>
                <a:ea typeface="Cambria" pitchFamily="34" charset="-122"/>
                <a:cs typeface="Cambria" pitchFamily="34" charset="-120"/>
              </a:rPr>
              <a:t> vs 10</a:t>
            </a:r>
            <a:endParaRPr lang="en-US" sz="4600" dirty="0"/>
          </a:p>
        </p:txBody>
      </p:sp>
      <p:sp>
        <p:nvSpPr>
          <p:cNvPr id="14" name="Text 12"/>
          <p:cNvSpPr txBox="1"/>
          <p:nvPr/>
        </p:nvSpPr>
        <p:spPr>
          <a:xfrm>
            <a:off x="9326880" y="3291840"/>
            <a:ext cx="2240280" cy="868680"/>
          </a:xfrm>
          <a:prstGeom prst="rect">
            <a:avLst/>
          </a:prstGeom>
          <a:noFill/>
          <a:ln/>
        </p:spPr>
        <p:txBody>
          <a:bodyPr wrap="square" lIns="0" tIns="0" rIns="0" bIns="0" rtlCol="0" anchor="t"/>
          <a:lstStyle/>
          <a:p>
            <a:pPr indent="0" marL="0">
              <a:buNone/>
            </a:pPr>
            <a:r>
              <a:rPr lang="en-US" sz="1300" dirty="0">
                <a:solidFill>
                  <a:srgbClr val="463D33"/>
                </a:solidFill>
                <a:latin typeface="Calibri" pitchFamily="34" charset="0"/>
                <a:ea typeface="Calibri" pitchFamily="34" charset="-122"/>
                <a:cs typeface="Calibri" pitchFamily="34" charset="-120"/>
              </a:rPr>
              <a:t>human-labelled Drosophila nuclei in the top 100 detections: fit vs raw image (mean of 3 seeds)</a:t>
            </a:r>
            <a:endParaRPr lang="en-US" sz="1300" dirty="0"/>
          </a:p>
        </p:txBody>
      </p:sp>
      <p:sp>
        <p:nvSpPr>
          <p:cNvPr id="15" name="Text 13"/>
          <p:cNvSpPr txBox="1"/>
          <p:nvPr/>
        </p:nvSpPr>
        <p:spPr>
          <a:xfrm>
            <a:off x="640080" y="4663440"/>
            <a:ext cx="10881360" cy="548640"/>
          </a:xfrm>
          <a:prstGeom prst="rect">
            <a:avLst/>
          </a:prstGeom>
          <a:noFill/>
          <a:ln/>
        </p:spPr>
        <p:txBody>
          <a:bodyPr wrap="square" lIns="0" tIns="0" rIns="0" bIns="0" rtlCol="0" anchor="ctr"/>
          <a:lstStyle/>
          <a:p>
            <a:pPr indent="0" marL="0">
              <a:buNone/>
            </a:pPr>
            <a:r>
              <a:rPr lang="en-US" sz="1100" dirty="0">
                <a:solidFill>
                  <a:srgbClr val="6B6258"/>
                </a:solidFill>
                <a:latin typeface="Calibri" pitchFamily="34" charset="0"/>
                <a:ea typeface="Calibri" pitchFamily="34" charset="-122"/>
                <a:cs typeface="Calibri" pitchFamily="34" charset="-120"/>
              </a:rPr>
              <a:t>Tribolium cards: full-anisotropic · coverage init · default position LR (0.0016) · K=250 · 3000 iterations · seed 0 · references from a detector.  Drosophila card: 29 human-labelled nuclei · K=500 · 3000 iterations.</a:t>
            </a:r>
            <a:endParaRPr lang="en-US" sz="1200" dirty="0"/>
          </a:p>
        </p:txBody>
      </p:sp>
      <p:sp>
        <p:nvSpPr>
          <p:cNvPr id="16" name="Text 14"/>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6B6258"/>
                </a:solidFill>
                <a:latin typeface="Calibri" pitchFamily="34" charset="0"/>
                <a:ea typeface="Calibri" pitchFamily="34" charset="-122"/>
                <a:cs typeface="Calibri" pitchFamily="34" charset="-120"/>
              </a:rPr>
              <a:t>Tribolium nuclei · 3D Gaussian splatting</a:t>
            </a:r>
            <a:endParaRPr lang="en-US" sz="900" dirty="0"/>
          </a:p>
        </p:txBody>
      </p:sp>
      <p:sp>
        <p:nvSpPr>
          <p:cNvPr id="17" name="Text 15"/>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6B625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731520"/>
          </a:xfrm>
          <a:prstGeom prst="rect">
            <a:avLst/>
          </a:prstGeom>
          <a:noFill/>
          <a:ln/>
        </p:spPr>
        <p:txBody>
          <a:bodyPr wrap="square" lIns="0" tIns="0" rIns="0" bIns="0" rtlCol="0" anchor="ctr"/>
          <a:lstStyle/>
          <a:p>
            <a:pPr indent="0" marL="0">
              <a:buNone/>
            </a:pPr>
            <a:r>
              <a:rPr lang="en-US" sz="3200" b="1" dirty="0">
                <a:solidFill>
                  <a:srgbClr val="1A1610"/>
                </a:solidFill>
                <a:latin typeface="Cambria" pitchFamily="34" charset="0"/>
                <a:ea typeface="Cambria" pitchFamily="34" charset="-122"/>
                <a:cs typeface="Cambria" pitchFamily="34" charset="-120"/>
              </a:rPr>
              <a:t>What Doesn't Work Yet</a:t>
            </a:r>
            <a:endParaRPr lang="en-US" sz="3200" dirty="0"/>
          </a:p>
        </p:txBody>
      </p:sp>
      <p:sp>
        <p:nvSpPr>
          <p:cNvPr id="3" name="Shape 1"/>
          <p:cNvSpPr/>
          <p:nvPr/>
        </p:nvSpPr>
        <p:spPr>
          <a:xfrm>
            <a:off x="640080" y="1911096"/>
            <a:ext cx="329184" cy="329184"/>
          </a:xfrm>
          <a:prstGeom prst="ellipse">
            <a:avLst/>
          </a:prstGeom>
          <a:solidFill>
            <a:srgbClr val="D93B3B"/>
          </a:solidFill>
          <a:ln/>
        </p:spPr>
      </p:sp>
      <p:sp>
        <p:nvSpPr>
          <p:cNvPr id="4" name="Text 2"/>
          <p:cNvSpPr txBox="1"/>
          <p:nvPr/>
        </p:nvSpPr>
        <p:spPr>
          <a:xfrm>
            <a:off x="640080" y="1911096"/>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5" name="Text 3"/>
          <p:cNvSpPr txBox="1"/>
          <p:nvPr/>
        </p:nvSpPr>
        <p:spPr>
          <a:xfrm>
            <a:off x="1188720" y="1737360"/>
            <a:ext cx="10149840" cy="685800"/>
          </a:xfrm>
          <a:prstGeom prst="rect">
            <a:avLst/>
          </a:prstGeom>
          <a:noFill/>
          <a:ln/>
        </p:spPr>
        <p:txBody>
          <a:bodyPr wrap="square" lIns="0" tIns="0" rIns="0" bIns="0" rtlCol="0" anchor="ctr"/>
          <a:lstStyle/>
          <a:p>
            <a:pPr indent="0" marL="0">
              <a:buNone/>
            </a:pPr>
            <a:r>
              <a:rPr lang="en-US" sz="1600" dirty="0">
                <a:solidFill>
                  <a:srgbClr val="1A1610"/>
                </a:solidFill>
                <a:latin typeface="Calibri" pitchFamily="34" charset="0"/>
                <a:ea typeface="Calibri" pitchFamily="34" charset="-122"/>
                <a:cs typeface="Calibri" pitchFamily="34" charset="-120"/>
              </a:rPr>
              <a:t>Ours: faint and edge-of-crop nuclei are still missed most often; the size cap helps on average but made one of four regions worse.</a:t>
            </a:r>
            <a:endParaRPr lang="en-US" sz="1600" dirty="0"/>
          </a:p>
        </p:txBody>
      </p:sp>
      <p:sp>
        <p:nvSpPr>
          <p:cNvPr id="6" name="Shape 4"/>
          <p:cNvSpPr/>
          <p:nvPr/>
        </p:nvSpPr>
        <p:spPr>
          <a:xfrm>
            <a:off x="640080" y="2871216"/>
            <a:ext cx="329184" cy="329184"/>
          </a:xfrm>
          <a:prstGeom prst="ellipse">
            <a:avLst/>
          </a:prstGeom>
          <a:solidFill>
            <a:srgbClr val="D93B3B"/>
          </a:solidFill>
          <a:ln/>
        </p:spPr>
      </p:sp>
      <p:sp>
        <p:nvSpPr>
          <p:cNvPr id="7" name="Text 5"/>
          <p:cNvSpPr txBox="1"/>
          <p:nvPr/>
        </p:nvSpPr>
        <p:spPr>
          <a:xfrm>
            <a:off x="640080" y="2871216"/>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8" name="Text 6"/>
          <p:cNvSpPr txBox="1"/>
          <p:nvPr/>
        </p:nvSpPr>
        <p:spPr>
          <a:xfrm>
            <a:off x="1188720" y="2697480"/>
            <a:ext cx="10149840" cy="685800"/>
          </a:xfrm>
          <a:prstGeom prst="rect">
            <a:avLst/>
          </a:prstGeom>
          <a:noFill/>
          <a:ln/>
        </p:spPr>
        <p:txBody>
          <a:bodyPr wrap="square" lIns="0" tIns="0" rIns="0" bIns="0" rtlCol="0" anchor="ctr"/>
          <a:lstStyle/>
          <a:p>
            <a:pPr indent="0" marL="0">
              <a:buNone/>
            </a:pPr>
            <a:r>
              <a:rPr lang="en-US" sz="1600" dirty="0">
                <a:solidFill>
                  <a:srgbClr val="1A1610"/>
                </a:solidFill>
                <a:latin typeface="Calibri" pitchFamily="34" charset="0"/>
                <a:ea typeface="Calibri" pitchFamily="34" charset="-122"/>
                <a:cs typeface="Calibri" pitchFamily="34" charset="-120"/>
              </a:rPr>
              <a:t>Shared: fits are smoother than real tissue. 20× more Gaussians bought only +0.36 dB, so this is a representation limit, not a budget one.</a:t>
            </a:r>
            <a:endParaRPr lang="en-US" sz="1600" dirty="0"/>
          </a:p>
        </p:txBody>
      </p:sp>
      <p:sp>
        <p:nvSpPr>
          <p:cNvPr id="9" name="Shape 7"/>
          <p:cNvSpPr/>
          <p:nvPr/>
        </p:nvSpPr>
        <p:spPr>
          <a:xfrm>
            <a:off x="640080" y="3831336"/>
            <a:ext cx="329184" cy="329184"/>
          </a:xfrm>
          <a:prstGeom prst="ellipse">
            <a:avLst/>
          </a:prstGeom>
          <a:solidFill>
            <a:srgbClr val="D93B3B"/>
          </a:solidFill>
          <a:ln/>
        </p:spPr>
      </p:sp>
      <p:sp>
        <p:nvSpPr>
          <p:cNvPr id="10" name="Text 8"/>
          <p:cNvSpPr txBox="1"/>
          <p:nvPr/>
        </p:nvSpPr>
        <p:spPr>
          <a:xfrm>
            <a:off x="640080" y="3831336"/>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1" name="Text 9"/>
          <p:cNvSpPr txBox="1"/>
          <p:nvPr/>
        </p:nvSpPr>
        <p:spPr>
          <a:xfrm>
            <a:off x="1188720" y="3657600"/>
            <a:ext cx="10149840" cy="685800"/>
          </a:xfrm>
          <a:prstGeom prst="rect">
            <a:avLst/>
          </a:prstGeom>
          <a:noFill/>
          <a:ln/>
        </p:spPr>
        <p:txBody>
          <a:bodyPr wrap="square" lIns="0" tIns="0" rIns="0" bIns="0" rtlCol="0" anchor="ctr"/>
          <a:lstStyle/>
          <a:p>
            <a:pPr indent="0" marL="0">
              <a:buNone/>
            </a:pPr>
            <a:r>
              <a:rPr lang="en-US" sz="1600" dirty="0">
                <a:solidFill>
                  <a:srgbClr val="1A1610"/>
                </a:solidFill>
                <a:latin typeface="Calibri" pitchFamily="34" charset="0"/>
                <a:ea typeface="Calibri" pitchFamily="34" charset="-122"/>
                <a:cs typeface="Calibri" pitchFamily="34" charset="-120"/>
              </a:rPr>
              <a:t>Ours: small crops (24–33 nuclei), one frame, the Tribolium cap on one seed; human labels only on one Drosophila crop (29 nuclei).</a:t>
            </a:r>
            <a:endParaRPr lang="en-US" sz="1600" dirty="0"/>
          </a:p>
        </p:txBody>
      </p:sp>
      <p:sp>
        <p:nvSpPr>
          <p:cNvPr id="12" name="Shape 10"/>
          <p:cNvSpPr/>
          <p:nvPr/>
        </p:nvSpPr>
        <p:spPr>
          <a:xfrm>
            <a:off x="640080" y="4791456"/>
            <a:ext cx="329184" cy="329184"/>
          </a:xfrm>
          <a:prstGeom prst="ellipse">
            <a:avLst/>
          </a:prstGeom>
          <a:solidFill>
            <a:srgbClr val="D93B3B"/>
          </a:solidFill>
          <a:ln/>
        </p:spPr>
      </p:sp>
      <p:sp>
        <p:nvSpPr>
          <p:cNvPr id="13" name="Text 11"/>
          <p:cNvSpPr txBox="1"/>
          <p:nvPr/>
        </p:nvSpPr>
        <p:spPr>
          <a:xfrm>
            <a:off x="640080" y="4791456"/>
            <a:ext cx="329184"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t>
            </a:r>
            <a:endParaRPr lang="en-US" sz="1500" dirty="0"/>
          </a:p>
        </p:txBody>
      </p:sp>
      <p:sp>
        <p:nvSpPr>
          <p:cNvPr id="14" name="Text 12"/>
          <p:cNvSpPr txBox="1"/>
          <p:nvPr/>
        </p:nvSpPr>
        <p:spPr>
          <a:xfrm>
            <a:off x="1188720" y="4617720"/>
            <a:ext cx="10149840" cy="685800"/>
          </a:xfrm>
          <a:prstGeom prst="rect">
            <a:avLst/>
          </a:prstGeom>
          <a:noFill/>
          <a:ln/>
        </p:spPr>
        <p:txBody>
          <a:bodyPr wrap="square" lIns="0" tIns="0" rIns="0" bIns="0" rtlCol="0" anchor="ctr"/>
          <a:lstStyle/>
          <a:p>
            <a:pPr indent="0" marL="0">
              <a:buNone/>
            </a:pPr>
            <a:r>
              <a:rPr lang="en-US" sz="1600" dirty="0">
                <a:solidFill>
                  <a:srgbClr val="1A1610"/>
                </a:solidFill>
                <a:latin typeface="Calibri" pitchFamily="34" charset="0"/>
                <a:ea typeface="Calibri" pitchFamily="34" charset="-122"/>
                <a:cs typeface="Calibri" pitchFamily="34" charset="-120"/>
              </a:rPr>
              <a:t>Tested by us: once storage reaches ~10,000 numbers, plain downsampling matches Gaussians on image quality, so compression alone does not justify them.</a:t>
            </a:r>
            <a:endParaRPr lang="en-US" sz="1600" dirty="0"/>
          </a:p>
        </p:txBody>
      </p:sp>
      <p:sp>
        <p:nvSpPr>
          <p:cNvPr id="15" name="Text 13"/>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6B6258"/>
                </a:solidFill>
                <a:latin typeface="Calibri" pitchFamily="34" charset="0"/>
                <a:ea typeface="Calibri" pitchFamily="34" charset="-122"/>
                <a:cs typeface="Calibri" pitchFamily="34" charset="-120"/>
              </a:rPr>
              <a:t>Tribolium nuclei · 3D Gaussian splatting</a:t>
            </a:r>
            <a:endParaRPr lang="en-US" sz="900" dirty="0"/>
          </a:p>
        </p:txBody>
      </p:sp>
      <p:sp>
        <p:nvSpPr>
          <p:cNvPr id="16" name="Text 14"/>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6B625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911535" cy="731520"/>
          </a:xfrm>
          <a:prstGeom prst="rect">
            <a:avLst/>
          </a:prstGeom>
          <a:noFill/>
          <a:ln/>
        </p:spPr>
        <p:txBody>
          <a:bodyPr wrap="square" lIns="0" tIns="0" rIns="0" bIns="0" rtlCol="0" anchor="ctr"/>
          <a:lstStyle/>
          <a:p>
            <a:pPr indent="0" marL="0">
              <a:buNone/>
            </a:pPr>
            <a:r>
              <a:rPr lang="en-US" sz="3200" b="1" dirty="0">
                <a:solidFill>
                  <a:srgbClr val="1A1610"/>
                </a:solidFill>
                <a:latin typeface="Cambria" pitchFamily="34" charset="0"/>
                <a:ea typeface="Cambria" pitchFamily="34" charset="-122"/>
                <a:cs typeface="Cambria" pitchFamily="34" charset="-120"/>
              </a:rPr>
              <a:t>Our Conclusion</a:t>
            </a:r>
            <a:endParaRPr lang="en-US" sz="3200" dirty="0"/>
          </a:p>
        </p:txBody>
      </p:sp>
      <p:sp>
        <p:nvSpPr>
          <p:cNvPr id="3" name="Shape 1"/>
          <p:cNvSpPr/>
          <p:nvPr/>
        </p:nvSpPr>
        <p:spPr>
          <a:xfrm>
            <a:off x="640080" y="1691640"/>
            <a:ext cx="146304" cy="146304"/>
          </a:xfrm>
          <a:prstGeom prst="rect">
            <a:avLst/>
          </a:prstGeom>
          <a:solidFill>
            <a:srgbClr val="E8973F"/>
          </a:solidFill>
          <a:ln/>
        </p:spPr>
      </p:sp>
      <p:sp>
        <p:nvSpPr>
          <p:cNvPr id="4" name="Text 2"/>
          <p:cNvSpPr txBox="1"/>
          <p:nvPr/>
        </p:nvSpPr>
        <p:spPr>
          <a:xfrm>
            <a:off x="960120" y="1591056"/>
            <a:ext cx="10515600" cy="365760"/>
          </a:xfrm>
          <a:prstGeom prst="rect">
            <a:avLst/>
          </a:prstGeom>
          <a:noFill/>
          <a:ln/>
        </p:spPr>
        <p:txBody>
          <a:bodyPr wrap="square" lIns="0" tIns="0" rIns="0" bIns="0" rtlCol="0" anchor="ctr"/>
          <a:lstStyle/>
          <a:p>
            <a:pPr indent="0" marL="0">
              <a:buNone/>
            </a:pPr>
            <a:r>
              <a:rPr lang="en-US" sz="1700" b="1" dirty="0">
                <a:solidFill>
                  <a:srgbClr val="1A1610"/>
                </a:solidFill>
                <a:latin typeface="Calibri" pitchFamily="34" charset="0"/>
                <a:ea typeface="Calibri" pitchFamily="34" charset="-122"/>
                <a:cs typeface="Calibri" pitchFamily="34" charset="-120"/>
              </a:rPr>
              <a:t>What we observed</a:t>
            </a:r>
            <a:endParaRPr lang="en-US" sz="1700" dirty="0"/>
          </a:p>
        </p:txBody>
      </p:sp>
      <p:sp>
        <p:nvSpPr>
          <p:cNvPr id="5" name="Text 3"/>
          <p:cNvSpPr txBox="1"/>
          <p:nvPr/>
        </p:nvSpPr>
        <p:spPr>
          <a:xfrm>
            <a:off x="960120" y="1984248"/>
            <a:ext cx="10515600" cy="868680"/>
          </a:xfrm>
          <a:prstGeom prst="rect">
            <a:avLst/>
          </a:prstGeom>
          <a:noFill/>
          <a:ln/>
        </p:spPr>
        <p:txBody>
          <a:bodyPr wrap="square" lIns="0" tIns="0" rIns="0" bIns="0" rtlCol="0" anchor="ctr"/>
          <a:lstStyle/>
          <a:p>
            <a:pPr indent="0" marL="0">
              <a:lnSpc>
                <a:spcPct val="120000"/>
              </a:lnSpc>
              <a:buNone/>
            </a:pPr>
            <a:r>
              <a:rPr lang="en-US" sz="1350" dirty="0">
                <a:solidFill>
                  <a:srgbClr val="6B6258"/>
                </a:solidFill>
                <a:latin typeface="Calibri" pitchFamily="34" charset="0"/>
                <a:ea typeface="Calibri" pitchFamily="34" charset="-122"/>
                <a:cs typeface="Calibri" pitchFamily="34" charset="-120"/>
              </a:rPr>
              <a:t>On Tribolium, capping blob size kept more faint detector-found nuclei (+6 of 31, 4 regions, 1 seed) at no PSNR cost. On 29 human-labelled Drosophila nuclei, fitted blobs ranked nuclei better than the raw image at the same number of detections (14 vs 10 in the top 100, mean of 3 seeds).</a:t>
            </a:r>
            <a:endParaRPr lang="en-US" sz="1350" dirty="0"/>
          </a:p>
        </p:txBody>
      </p:sp>
      <p:sp>
        <p:nvSpPr>
          <p:cNvPr id="6" name="Shape 4"/>
          <p:cNvSpPr/>
          <p:nvPr/>
        </p:nvSpPr>
        <p:spPr>
          <a:xfrm>
            <a:off x="640080" y="3108960"/>
            <a:ext cx="146304" cy="146304"/>
          </a:xfrm>
          <a:prstGeom prst="rect">
            <a:avLst/>
          </a:prstGeom>
          <a:solidFill>
            <a:srgbClr val="E8973F"/>
          </a:solidFill>
          <a:ln/>
        </p:spPr>
      </p:sp>
      <p:sp>
        <p:nvSpPr>
          <p:cNvPr id="7" name="Text 5"/>
          <p:cNvSpPr txBox="1"/>
          <p:nvPr/>
        </p:nvSpPr>
        <p:spPr>
          <a:xfrm>
            <a:off x="960120" y="3008376"/>
            <a:ext cx="10515600" cy="365760"/>
          </a:xfrm>
          <a:prstGeom prst="rect">
            <a:avLst/>
          </a:prstGeom>
          <a:noFill/>
          <a:ln/>
        </p:spPr>
        <p:txBody>
          <a:bodyPr wrap="square" lIns="0" tIns="0" rIns="0" bIns="0" rtlCol="0" anchor="ctr"/>
          <a:lstStyle/>
          <a:p>
            <a:pPr indent="0" marL="0">
              <a:buNone/>
            </a:pPr>
            <a:r>
              <a:rPr lang="en-US" sz="1700" b="1" dirty="0">
                <a:solidFill>
                  <a:srgbClr val="1A1610"/>
                </a:solidFill>
                <a:latin typeface="Calibri" pitchFamily="34" charset="0"/>
                <a:ea typeface="Calibri" pitchFamily="34" charset="-122"/>
                <a:cs typeface="Calibri" pitchFamily="34" charset="-120"/>
              </a:rPr>
              <a:t>Image quality is the wrong yardstick</a:t>
            </a:r>
            <a:endParaRPr lang="en-US" sz="1700" dirty="0"/>
          </a:p>
        </p:txBody>
      </p:sp>
      <p:sp>
        <p:nvSpPr>
          <p:cNvPr id="8" name="Text 6"/>
          <p:cNvSpPr txBox="1"/>
          <p:nvPr/>
        </p:nvSpPr>
        <p:spPr>
          <a:xfrm>
            <a:off x="960120" y="3401568"/>
            <a:ext cx="10515600" cy="868680"/>
          </a:xfrm>
          <a:prstGeom prst="rect">
            <a:avLst/>
          </a:prstGeom>
          <a:noFill/>
          <a:ln/>
        </p:spPr>
        <p:txBody>
          <a:bodyPr wrap="square" lIns="0" tIns="0" rIns="0" bIns="0" rtlCol="0" anchor="ctr"/>
          <a:lstStyle/>
          <a:p>
            <a:pPr indent="0" marL="0">
              <a:lnSpc>
                <a:spcPct val="120000"/>
              </a:lnSpc>
              <a:buNone/>
            </a:pPr>
            <a:r>
              <a:rPr lang="en-US" sz="1350" dirty="0">
                <a:solidFill>
                  <a:srgbClr val="6B6258"/>
                </a:solidFill>
                <a:latin typeface="Calibri" pitchFamily="34" charset="0"/>
                <a:ea typeface="Calibri" pitchFamily="34" charset="-122"/>
                <a:cs typeface="Calibri" pitchFamily="34" charset="-120"/>
              </a:rPr>
              <a:t>Our best-PSNR fit (uniform sampling, +0.4 dB) found fewer nuclei in the top 100 than the default fit (11.7 vs 14). A better picture is not a better nucleus list, so which metric you score decides which ideas survive.</a:t>
            </a:r>
            <a:endParaRPr lang="en-US" sz="1350" dirty="0"/>
          </a:p>
        </p:txBody>
      </p:sp>
      <p:sp>
        <p:nvSpPr>
          <p:cNvPr id="9" name="Shape 7"/>
          <p:cNvSpPr/>
          <p:nvPr/>
        </p:nvSpPr>
        <p:spPr>
          <a:xfrm>
            <a:off x="640080" y="4526280"/>
            <a:ext cx="146304" cy="146304"/>
          </a:xfrm>
          <a:prstGeom prst="rect">
            <a:avLst/>
          </a:prstGeom>
          <a:solidFill>
            <a:srgbClr val="E8973F"/>
          </a:solidFill>
          <a:ln/>
        </p:spPr>
      </p:sp>
      <p:sp>
        <p:nvSpPr>
          <p:cNvPr id="10" name="Text 8"/>
          <p:cNvSpPr txBox="1"/>
          <p:nvPr/>
        </p:nvSpPr>
        <p:spPr>
          <a:xfrm>
            <a:off x="960120" y="4425696"/>
            <a:ext cx="10515600" cy="365760"/>
          </a:xfrm>
          <a:prstGeom prst="rect">
            <a:avLst/>
          </a:prstGeom>
          <a:noFill/>
          <a:ln/>
        </p:spPr>
        <p:txBody>
          <a:bodyPr wrap="square" lIns="0" tIns="0" rIns="0" bIns="0" rtlCol="0" anchor="ctr"/>
          <a:lstStyle/>
          <a:p>
            <a:pPr indent="0" marL="0">
              <a:buNone/>
            </a:pPr>
            <a:r>
              <a:rPr lang="en-US" sz="1700" b="1" dirty="0">
                <a:solidFill>
                  <a:srgbClr val="1A1610"/>
                </a:solidFill>
                <a:latin typeface="Calibri" pitchFamily="34" charset="0"/>
                <a:ea typeface="Calibri" pitchFamily="34" charset="-122"/>
                <a:cs typeface="Calibri" pitchFamily="34" charset="-120"/>
              </a:rPr>
              <a:t>What we have not shown</a:t>
            </a:r>
            <a:endParaRPr lang="en-US" sz="1700" dirty="0"/>
          </a:p>
        </p:txBody>
      </p:sp>
      <p:sp>
        <p:nvSpPr>
          <p:cNvPr id="11" name="Text 9"/>
          <p:cNvSpPr txBox="1"/>
          <p:nvPr/>
        </p:nvSpPr>
        <p:spPr>
          <a:xfrm>
            <a:off x="960120" y="4818888"/>
            <a:ext cx="10515600" cy="868680"/>
          </a:xfrm>
          <a:prstGeom prst="rect">
            <a:avLst/>
          </a:prstGeom>
          <a:noFill/>
          <a:ln/>
        </p:spPr>
        <p:txBody>
          <a:bodyPr wrap="square" lIns="0" tIns="0" rIns="0" bIns="0" rtlCol="0" anchor="ctr"/>
          <a:lstStyle/>
          <a:p>
            <a:pPr indent="0" marL="0">
              <a:lnSpc>
                <a:spcPct val="120000"/>
              </a:lnSpc>
              <a:buNone/>
            </a:pPr>
            <a:r>
              <a:rPr lang="en-US" sz="1350" dirty="0">
                <a:solidFill>
                  <a:srgbClr val="6B6258"/>
                </a:solidFill>
                <a:latin typeface="Calibri" pitchFamily="34" charset="0"/>
                <a:ea typeface="Calibri" pitchFamily="34" charset="-122"/>
                <a:cs typeface="Calibri" pitchFamily="34" charset="-120"/>
              </a:rPr>
              <a:t>A win on a real task: using all 457 of its candidates, the raw-image detector finds 26 of 29, more than any fit (at most 23). Gaussian nucleus models with size limits already exist (TGMM, Amat et al. 2014); our part is the controlled diagnosis and the unit fixes.</a:t>
            </a:r>
            <a:endParaRPr lang="en-US" sz="1350" dirty="0"/>
          </a:p>
        </p:txBody>
      </p:sp>
      <p:sp>
        <p:nvSpPr>
          <p:cNvPr id="12" name="Text 1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6B6258"/>
                </a:solidFill>
                <a:latin typeface="Calibri" pitchFamily="34" charset="0"/>
                <a:ea typeface="Calibri" pitchFamily="34" charset="-122"/>
                <a:cs typeface="Calibri" pitchFamily="34" charset="-120"/>
              </a:rPr>
              <a:t>Tribolium nuclei · 3D Gaussian splatting</a:t>
            </a:r>
            <a:endParaRPr lang="en-US" sz="900" dirty="0"/>
          </a:p>
        </p:txBody>
      </p:sp>
      <p:sp>
        <p:nvSpPr>
          <p:cNvPr id="13" name="Text 11"/>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6B625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120F"/>
        </a:solidFill>
      </p:bgPr>
    </p:bg>
    <p:spTree>
      <p:nvGrpSpPr>
        <p:cNvPr id="1" name=""/>
        <p:cNvGrpSpPr/>
        <p:nvPr/>
      </p:nvGrpSpPr>
      <p:grpSpPr>
        <a:xfrm>
          <a:off x="0" y="0"/>
          <a:ext cx="0" cy="0"/>
          <a:chOff x="0" y="0"/>
          <a:chExt cx="0" cy="0"/>
        </a:xfrm>
      </p:grpSpPr>
      <p:sp>
        <p:nvSpPr>
          <p:cNvPr id="2" name="Shape 0"/>
          <p:cNvSpPr/>
          <p:nvPr/>
        </p:nvSpPr>
        <p:spPr>
          <a:xfrm>
            <a:off x="365760" y="4663440"/>
            <a:ext cx="1371600" cy="1371600"/>
          </a:xfrm>
          <a:prstGeom prst="ellipse">
            <a:avLst/>
          </a:prstGeom>
          <a:solidFill>
            <a:srgbClr val="E8973F">
              <a:alpha val="15000"/>
            </a:srgbClr>
          </a:solidFill>
          <a:ln/>
        </p:spPr>
      </p:sp>
      <p:sp>
        <p:nvSpPr>
          <p:cNvPr id="3" name="Shape 1"/>
          <p:cNvSpPr/>
          <p:nvPr/>
        </p:nvSpPr>
        <p:spPr>
          <a:xfrm>
            <a:off x="-274320" y="5486400"/>
            <a:ext cx="822960" cy="822960"/>
          </a:xfrm>
          <a:prstGeom prst="ellipse">
            <a:avLst/>
          </a:prstGeom>
          <a:solidFill>
            <a:srgbClr val="E8973F">
              <a:alpha val="15000"/>
            </a:srgbClr>
          </a:solidFill>
          <a:ln/>
        </p:spPr>
      </p:sp>
      <p:sp>
        <p:nvSpPr>
          <p:cNvPr id="4" name="Shape 2"/>
          <p:cNvSpPr/>
          <p:nvPr/>
        </p:nvSpPr>
        <p:spPr>
          <a:xfrm>
            <a:off x="1005840" y="5852160"/>
            <a:ext cx="502920" cy="502920"/>
          </a:xfrm>
          <a:prstGeom prst="ellipse">
            <a:avLst/>
          </a:prstGeom>
          <a:solidFill>
            <a:srgbClr val="E8973F">
              <a:alpha val="15000"/>
            </a:srgbClr>
          </a:solidFill>
          <a:ln/>
        </p:spPr>
      </p:sp>
      <p:sp>
        <p:nvSpPr>
          <p:cNvPr id="5" name="Text 3"/>
          <p:cNvSpPr txBox="1"/>
          <p:nvPr/>
        </p:nvSpPr>
        <p:spPr>
          <a:xfrm>
            <a:off x="822960" y="1463040"/>
            <a:ext cx="10058400" cy="731520"/>
          </a:xfrm>
          <a:prstGeom prst="rect">
            <a:avLst/>
          </a:prstGeom>
          <a:noFill/>
          <a:ln/>
        </p:spPr>
        <p:txBody>
          <a:bodyPr wrap="square" lIns="0" tIns="0" rIns="0" bIns="0" rtlCol="0" anchor="ctr"/>
          <a:lstStyle/>
          <a:p>
            <a:pPr indent="0" marL="0">
              <a:buNone/>
            </a:pPr>
            <a:r>
              <a:rPr lang="en-US" sz="3400" b="1" dirty="0">
                <a:solidFill>
                  <a:srgbClr val="F5F1E8"/>
                </a:solidFill>
                <a:latin typeface="Cambria" pitchFamily="34" charset="0"/>
                <a:ea typeface="Cambria" pitchFamily="34" charset="-122"/>
                <a:cs typeface="Cambria" pitchFamily="34" charset="-120"/>
              </a:rPr>
              <a:t>Where This Stands</a:t>
            </a:r>
            <a:endParaRPr lang="en-US" sz="3400" dirty="0"/>
          </a:p>
        </p:txBody>
      </p:sp>
      <p:sp>
        <p:nvSpPr>
          <p:cNvPr id="6" name="Text 4"/>
          <p:cNvSpPr txBox="1"/>
          <p:nvPr/>
        </p:nvSpPr>
        <p:spPr>
          <a:xfrm>
            <a:off x="822960" y="2514600"/>
            <a:ext cx="9875520" cy="1554480"/>
          </a:xfrm>
          <a:prstGeom prst="rect">
            <a:avLst/>
          </a:prstGeom>
          <a:noFill/>
          <a:ln/>
        </p:spPr>
        <p:txBody>
          <a:bodyPr wrap="square" lIns="0" tIns="0" rIns="0" bIns="0" rtlCol="0" anchor="ctr"/>
          <a:lstStyle/>
          <a:p>
            <a:pPr indent="0" marL="0">
              <a:lnSpc>
                <a:spcPct val="130000"/>
              </a:lnSpc>
              <a:buNone/>
            </a:pPr>
            <a:r>
              <a:rPr lang="en-US" sz="1800" dirty="0">
                <a:solidFill>
                  <a:srgbClr val="F5F1E8"/>
                </a:solidFill>
                <a:latin typeface="Calibri" pitchFamily="34" charset="0"/>
                <a:ea typeface="Calibri" pitchFamily="34" charset="-122"/>
                <a:cs typeface="Calibri" pitchFamily="34" charset="-120"/>
              </a:rPr>
              <a:t>Anisotropic Gaussian fits of real nuclei, built on [colleague name]’s 399-fit archive and extended with held-out validation, unit-correct scoring, and one controlled intervention: the size cap.</a:t>
            </a:r>
            <a:endParaRPr lang="en-US" sz="2000" dirty="0"/>
          </a:p>
        </p:txBody>
      </p:sp>
      <p:sp>
        <p:nvSpPr>
          <p:cNvPr id="7" name="Text 5"/>
          <p:cNvSpPr txBox="1"/>
          <p:nvPr/>
        </p:nvSpPr>
        <p:spPr>
          <a:xfrm>
            <a:off x="822960" y="4389120"/>
            <a:ext cx="9144000" cy="731520"/>
          </a:xfrm>
          <a:prstGeom prst="rect">
            <a:avLst/>
          </a:prstGeom>
          <a:noFill/>
          <a:ln/>
        </p:spPr>
        <p:txBody>
          <a:bodyPr wrap="square" lIns="0" tIns="0" rIns="0" bIns="0" rtlCol="0" anchor="ctr"/>
          <a:lstStyle/>
          <a:p>
            <a:pPr indent="0" marL="0">
              <a:buNone/>
            </a:pPr>
            <a:r>
              <a:rPr lang="en-US" sz="1500" i="1" dirty="0">
                <a:solidFill>
                  <a:srgbClr val="F2A65A"/>
                </a:solidFill>
                <a:latin typeface="Calibri" pitchFamily="34" charset="0"/>
                <a:ea typeface="Calibri" pitchFamily="34" charset="-122"/>
                <a:cs typeface="Calibri" pitchFamily="34" charset="-120"/>
              </a:rPr>
              <a:t>Next: more human-labelled crops and seeds before any detector claim; every setting in microns.</a:t>
            </a:r>
            <a:endParaRPr lang="en-US" sz="1600" dirty="0"/>
          </a:p>
        </p:txBody>
      </p:sp>
      <p:sp>
        <p:nvSpPr>
          <p:cNvPr id="8" name="Text 6"/>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B8AFA2"/>
                </a:solidFill>
                <a:latin typeface="Calibri" pitchFamily="34" charset="0"/>
                <a:ea typeface="Calibri" pitchFamily="34" charset="-122"/>
                <a:cs typeface="Calibri" pitchFamily="34" charset="-120"/>
              </a:rPr>
              <a:t>Tribolium nuclei · 3D Gaussian splatting</a:t>
            </a:r>
            <a:endParaRPr lang="en-US" sz="900" dirty="0"/>
          </a:p>
        </p:txBody>
      </p:sp>
      <p:sp>
        <p:nvSpPr>
          <p:cNvPr id="9" name="Text 7"/>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B8AFA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640080" y="457200"/>
            <a:ext cx="10911535" cy="731520"/>
          </a:xfrm>
          <a:prstGeom prst="rect">
            <a:avLst/>
          </a:prstGeom>
          <a:noFill/>
          <a:ln/>
        </p:spPr>
        <p:txBody>
          <a:bodyPr wrap="square" lIns="0" tIns="0" rIns="0" bIns="0" rtlCol="0" anchor="ctr"/>
          <a:lstStyle/>
          <a:p>
            <a:pPr indent="0" marL="0">
              <a:buNone/>
            </a:pPr>
            <a:r>
              <a:rPr lang="en-US" sz="3200" b="1" dirty="0">
                <a:solidFill>
                  <a:srgbClr val="1A1610"/>
                </a:solidFill>
                <a:latin typeface="Cambria" pitchFamily="34" charset="0"/>
                <a:ea typeface="Cambria" pitchFamily="34" charset="-122"/>
                <a:cs typeface="Cambria" pitchFamily="34" charset="-120"/>
              </a:rPr>
              <a:t>Final Check: Human-Labelled Nuclei</a:t>
            </a:r>
            <a:endParaRPr lang="en-US" sz="3200" dirty="0"/>
          </a:p>
        </p:txBody>
      </p:sp>
      <p:sp>
        <p:nvSpPr>
          <p:cNvPr id="6" name="Text 3"/>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6B6258"/>
                </a:solidFill>
                <a:latin typeface="Calibri" pitchFamily="34" charset="0"/>
                <a:ea typeface="Calibri" pitchFamily="34" charset="-122"/>
                <a:cs typeface="Calibri" pitchFamily="34" charset="-120"/>
              </a:rPr>
              <a:t>Tribolium nuclei · 3D Gaussian splatting</a:t>
            </a:r>
            <a:endParaRPr lang="en-US" sz="900" dirty="0"/>
          </a:p>
        </p:txBody>
      </p:sp>
      <p:sp>
        <p:nvSpPr>
          <p:cNvPr id="7" name="Text 4"/>
          <p:cNvSpPr txBox="1"/>
          <p:nvPr/>
        </p:nvSpPr>
        <p:spPr>
          <a:xfrm>
            <a:off x="11368735" y="6473952"/>
            <a:ext cx="457200" cy="274320"/>
          </a:xfrm>
          <a:prstGeom prst="rect">
            <a:avLst/>
          </a:prstGeom>
          <a:noFill/>
          <a:ln/>
        </p:spPr>
        <p:txBody>
          <a:bodyPr wrap="square" lIns="0" tIns="0" rIns="0" bIns="0" rtlCol="0" anchor="ctr"/>
          <a:lstStyle/>
          <a:p>
            <a:pPr algn="r" indent="0" marL="0">
              <a:buNone/>
            </a:pPr>
            <a:r>
              <a:rPr lang="en-US" sz="900" dirty="0">
                <a:solidFill>
                  <a:srgbClr val="6B6258"/>
                </a:solidFill>
                <a:latin typeface="Calibri" pitchFamily="34" charset="0"/>
                <a:ea typeface="Calibri" pitchFamily="34" charset="-122"/>
                <a:cs typeface="Calibri" pitchFamily="34" charset="-120"/>
              </a:rPr>
              <a:t>9</a:t>
            </a:r>
            <a:endParaRPr lang="en-US" sz="900" dirty="0"/>
          </a:p>
        </p:txBody>
      </p:sp>
      <p:pic>
        <p:nvPicPr>
          <p:cNvPr id="8" name="Picture 7" descr="dro_check.png"/>
          <p:cNvPicPr>
            <a:picLocks noChangeAspect="1"/>
          </p:cNvPicPr>
          <p:nvPr/>
        </p:nvPicPr>
        <p:blipFill>
          <a:blip r:embed="rId2"/>
          <a:stretch>
            <a:fillRect/>
          </a:stretch>
        </p:blipFill>
        <p:spPr>
          <a:xfrm>
            <a:off x="658368" y="1325880"/>
            <a:ext cx="10881360" cy="3874710"/>
          </a:xfrm>
          <a:prstGeom prst="rect">
            <a:avLst/>
          </a:prstGeom>
        </p:spPr>
      </p:pic>
      <p:sp>
        <p:nvSpPr>
          <p:cNvPr id="9" name="TextBox 8"/>
          <p:cNvSpPr txBox="1"/>
          <p:nvPr/>
        </p:nvSpPr>
        <p:spPr>
          <a:xfrm>
            <a:off x="640080" y="5230368"/>
            <a:ext cx="10881360" cy="365760"/>
          </a:xfrm>
          <a:prstGeom prst="rect">
            <a:avLst/>
          </a:prstGeom>
          <a:noFill/>
        </p:spPr>
        <p:txBody>
          <a:bodyPr wrap="square">
            <a:spAutoFit/>
          </a:bodyPr>
          <a:lstStyle/>
          <a:p>
            <a:r>
              <a:rPr sz="1200" b="0">
                <a:solidFill>
                  <a:srgbClr val="463D33"/>
                </a:solidFill>
                <a:latin typeface="Calibri"/>
              </a:rPr>
              <a:t>Drosophila crop, 29 nuclei marked by a person · every fit starts from the same detector candidates · </a:t>
            </a:r>
            <a:r>
              <a:rPr sz="1200" b="1">
                <a:solidFill>
                  <a:srgbClr val="2CA02C"/>
                </a:solidFill>
                <a:latin typeface="Calibri"/>
              </a:rPr>
              <a:t>fit 14 vs raw image 10 in the top 100</a:t>
            </a:r>
            <a:r>
              <a:rPr sz="1200" b="0">
                <a:solidFill>
                  <a:srgbClr val="463D33"/>
                </a:solidFill>
                <a:latin typeface="Calibri"/>
              </a:rPr>
              <a:t> · mean of 3 seeds</a:t>
            </a:r>
          </a:p>
        </p:txBody>
      </p:sp>
      <p:sp>
        <p:nvSpPr>
          <p:cNvPr id="10" name="TextBox 9"/>
          <p:cNvSpPr txBox="1"/>
          <p:nvPr/>
        </p:nvSpPr>
        <p:spPr>
          <a:xfrm>
            <a:off x="640080" y="5577840"/>
            <a:ext cx="10881360" cy="685800"/>
          </a:xfrm>
          <a:prstGeom prst="rect">
            <a:avLst/>
          </a:prstGeom>
          <a:noFill/>
        </p:spPr>
        <p:txBody>
          <a:bodyPr wrap="square">
            <a:spAutoFit/>
          </a:bodyPr>
          <a:lstStyle/>
          <a:p>
            <a:r>
              <a:rPr sz="1150" b="0">
                <a:solidFill>
                  <a:srgbClr val="6B6258"/>
                </a:solidFill>
                <a:latin typeface="Calibri"/>
              </a:rPr>
              <a:t>Downsampled to similar storage (4,410 vs 5,500 numbers) it scores 17.9 dB vs 21.5 dB and finds 11/29 even in the top 200. But the raw detector, using all 457 candidates, finds 26/29, more than any fit. The size cap bound 2% of blobs and changed nothing; a high learning rate hurt; uniform sampling ranked worse in the top 100 (-2.3) and was unclear at 200 (+1.7). One nucleus = 3.4%; differences under ~3 nuclei are not resolvable.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2026-09-02T17:04:52Z</dcterms:created>
  <dcterms:modified xsi:type="dcterms:W3CDTF">2026-09-02T17:04:52Z</dcterms:modified>
</cp:coreProperties>
</file>